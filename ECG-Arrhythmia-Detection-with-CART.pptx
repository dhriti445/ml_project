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1"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Arial Nova Light" panose="020B0304020202020204" pitchFamily="34" charset="0"/>
      <p:regular r:id="rId13"/>
    </p:embeddedFont>
    <p:embeddedFont>
      <p:font typeface="Consolas" panose="020B0609020204030204" pitchFamily="49" charset="0"/>
      <p:regular r:id="rId14"/>
      <p:bold r:id="rId15"/>
      <p:italic r:id="rId16"/>
      <p:boldItalic r:id="rId17"/>
    </p:embeddedFont>
    <p:embeddedFont>
      <p:font typeface="Fira Mono Bold" panose="020B0604020202020204" charset="0"/>
      <p:regular r:id="rId18"/>
    </p:embeddedFont>
    <p:embeddedFont>
      <p:font typeface="Fira Mono Medium" panose="020B0609050000020004" pitchFamily="49" charset="0"/>
      <p:regular r:id="rId19"/>
    </p:embeddedFont>
    <p:embeddedFont>
      <p:font typeface="Schibsted Grotesk" panose="020B0604020202020204" charset="0"/>
      <p:regular r:id="rId20"/>
    </p:embeddedFont>
    <p:embeddedFont>
      <p:font typeface="Schibsted Grotesk Bold" panose="020B0604020202020204" charset="0"/>
      <p:regular r:id="rId21"/>
    </p:embeddedFont>
    <p:embeddedFont>
      <p:font typeface="Schibsted Grotesk ExtraBold" panose="020B0604020202020204" charset="0"/>
      <p:regular r:id="rId22"/>
    </p:embeddedFont>
    <p:embeddedFont>
      <p:font typeface="Schibsted Grotesk Medium" panose="020B0604020202020204" charset="0"/>
      <p:regular r:id="rId23"/>
    </p:embeddedFont>
    <p:embeddedFont>
      <p:font typeface="Schibsted Grotesk Semi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7539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topic: we classify heart-condition categories from precomputed ECG/patient features. The project compares a pruned CART decision tree (the Stanford paper's method) with a Random Forest. All results shown are from our own code (main.py).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motivation in one minute. Stress that the model is a classroom experiment, not a diagnostic tool.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facts from the UCI documentation. Say that we verify shape, labels and missingness when the file is loaded, and that we decide what to drop from measured missing share, not from column position.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flow left to right and emphasise: nothing from the test set is used for imputation values, feature dropping or tuning. Dropping and imputation sit inside the scikit-learn Pipeline, so cross-validation re-learns them on each training fold - that is how we avoid data leakage.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Gini with a tiny example (pure node = 0). Larger ccp_alpha means a smaller tree; we pick it by 5-fold CV on the training rows (21 leaves unpruned vs 8 at 0.02). Then explain the Random Forest in one sentence: many trees voting. Be ready to say why differences of 1-3 CV points are within noise on 316 rows.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the project folder: main.py, the notebook, README, requirements, results.txt and the three figures. Run python main.py live if time allows. Mention the disclaimer printed at the end of the run.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Numbers come from results.txt / the notebook. Random Forest: accuracy 0.728, balanced accuracy 0.360, macro-F1 0.369, 10-fold CV 0.739. Pruned CART: 0.632 / 0.261 / 0.237 / 0.669. The majority baseline is 0.542. Contrast accuracy with macro-F1 and explain why they differ (rare classes). We did NOT reach the paper's ~80%; their protocol differs and we did not tune toward that number.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the bar chart (labels are f-numbers: f15 = heart_rate, f228 = V1_qrsa, f197 = AVR_t_amp, f224 = V1_rprime_amp). Importance is spread thinly across many features. Be explicit: if our top features differ from the paper's, that is a finding, not an error. Importance describes the model, not causation.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candid about weaknesses; examiners reward honesty. We did not reach the paper's ~80% and say so. Link each limitation to what we would do next.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Summarise in three sentences, then take questions. Be ready for: Gini, pruning, Random Forest vs one tree, leakage, imputation, confusion matrix, why our accuracy is below the paper's ~80% (different protocol; we did not tune toward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7DA2CEDE-2AB4-4FB8-9551-E0AA4222B1A3}" type="datetime1">
              <a:rPr lang="en-US" smtClean="0"/>
              <a:t>10/13/2026</a:t>
            </a:fld>
            <a:endParaRPr lang="en-US" dirty="0"/>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196081350"/>
      </p:ext>
    </p:extLst>
  </p:cSld>
  <p:clrMapOvr>
    <a:masterClrMapping/>
  </p:clrMapOvr>
  <p:hf sldNum="0" hdr="0" ftr="0" dt="0"/>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80EE6BAA-0080-49BB-A5F6-D96B22DFE410}" type="datetime1">
              <a:rPr lang="en-US" smtClean="0"/>
              <a:t>10/13/2026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110010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21560963-1EEA-4BDE-8FF9-3FEE13B5D43C}" type="datetime1">
              <a:rPr lang="en-US" smtClean="0"/>
              <a:t>10/13/2026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2377264849"/>
      </p:ext>
    </p:extLst>
  </p:cSld>
  <p:clrMapOvr>
    <a:masterClrMapping/>
  </p:clrMapOvr>
  <p:hf sldNum="0" hdr="0" ftr="0" dt="0"/>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7DA2CEDE-2AB4-4FB8-9551-E0AA4222B1A3}" type="datetime1">
              <a:rPr lang="en-US" smtClean="0"/>
              <a:t>10/13/2026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5E0677F5-4A8A-4BF1-96BE-3BAE8FBAFE2E}" type="slidenum">
              <a:rPr lang="en-US" smtClean="0"/>
              <a:pPr/>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041012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7DA2CEDE-2AB4-4FB8-9551-E0AA4222B1A3}" type="datetime1">
              <a:rPr lang="en-US" smtClean="0"/>
              <a:t>10/13/2026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04625366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7DA2CEDE-2AB4-4FB8-9551-E0AA4222B1A3}" type="datetime1">
              <a:rPr lang="en-US" smtClean="0"/>
              <a:t>10/13/2026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434331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75515BC3-2A9C-497B-B82C-246EEDDDF89C}" type="datetime1">
              <a:rPr lang="en-US" smtClean="0"/>
              <a:t>10/13/2026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885901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7DA2CEDE-2AB4-4FB8-9551-E0AA4222B1A3}" type="datetime1">
              <a:rPr lang="en-US" smtClean="0"/>
              <a:t>10/13/2026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167573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3E08220-0958-4EB6-84AC-FBA5654D4035}" type="datetime1">
              <a:rPr lang="en-US" smtClean="0"/>
              <a:t>10/13/2026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43054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37D881E9-FF16-48A7-B8AA-A17AAAEAD6E1}" type="datetime1">
              <a:rPr lang="en-US" smtClean="0"/>
              <a:t>10/13/2026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34499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1">
              <a:rPr lang="en-US" smtClean="0"/>
              <a:t>10/13/2026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8281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2BDF39F2-6977-4B14-98E3-4DFE82804B0D}" type="datetime1">
              <a:rPr lang="en-US" smtClean="0"/>
              <a:t>10/13/2026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239335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62C1B48-5712-40E8-928E-1136C5D12A17}" type="datetime1">
              <a:rPr lang="en-US" smtClean="0"/>
              <a:t>10/13/2026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161560766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1">
              <a:rPr lang="en-US" smtClean="0"/>
              <a:t>10/13/2026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257063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D6F66A7C-2450-4D43-AEC7-53AFAE9E8A03}" type="datetime1">
              <a:rPr lang="en-US" smtClean="0"/>
              <a:t>10/13/2026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481348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FBC323F5-F813-45BA-B261-A7C41DB03AE5}" type="datetime1">
              <a:rPr lang="en-US" smtClean="0"/>
              <a:t>10/13/2026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5E0677F5-4A8A-4BF1-96BE-3BAE8FBAFE2E}"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9801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10/13/2026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9650941"/>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10/13/2026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0599939"/>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27B77AD4-7B4F-4A76-ADEB-9CF6601338DB}" type="datetime1">
              <a:rPr lang="en-US" smtClean="0"/>
              <a:t>10/13/2026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2349682"/>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02E0CC3F-E257-4F6E-9E6A-B96D887699EC}" type="datetime1">
              <a:rPr lang="en-US" smtClean="0"/>
              <a:t>10/13/2026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98426068"/>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0BDAA3E-BE52-42BC-99E8-CCCB81A57ABD}" type="datetime1">
              <a:rPr lang="en-US" smtClean="0"/>
              <a:t>10/13/2026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9830926"/>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1B1491A9-BF26-4517-AB22-6183D453A902}" type="datetime1">
              <a:rPr lang="en-US" smtClean="0"/>
              <a:t>10/13/2026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E0677F5-4A8A-4BF1-96BE-3BAE8FBAFE2E}"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9712212"/>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5024DF-23AF-419A-978A-28215FBF1E37}" type="datetime1">
              <a:rPr lang="en-US" smtClean="0"/>
              <a:t>10/13/2026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328905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7B01CFC0-D171-4F9D-A610-2F47C1080058}" type="datetime1">
              <a:rPr lang="en-US" smtClean="0"/>
              <a:t>10/13/2026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0942435"/>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7DA2CEDE-2AB4-4FB8-9551-E0AA4222B1A3}" type="datetime1">
              <a:rPr lang="en-US" smtClean="0"/>
              <a:t>10/13/2026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5E0677F5-4A8A-4BF1-96BE-3BAE8FBAFE2E}"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4514782"/>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6C42483-B3E3-4399-B6B2-4B1D067F8CE5}" type="datetime1">
              <a:rPr lang="en-US" smtClean="0"/>
              <a:t>10/13/2026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3605012434"/>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A36574F-2CAD-411B-9EF3-12D0DF2C09EB}" type="datetime1">
              <a:rPr lang="en-US" smtClean="0"/>
              <a:t>10/13/2026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3634804072"/>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master 1">
    <p:bg>
      <p:bgPr>
        <a:solidFill>
          <a:srgbClr val="07231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109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7DA2CEDE-2AB4-4FB8-9551-E0AA4222B1A3}" type="datetime1">
              <a:rPr lang="en-US" smtClean="0"/>
              <a:pPr/>
              <a:t>10/13/2026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5E0677F5-4A8A-4BF1-96BE-3BAE8FBAFE2E}"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1925984"/>
      </p:ext>
    </p:extLst>
  </p:cSld>
  <p:clrMap bg1="dk1" tx1="lt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Lst>
  <p:hf sldNum="0" hdr="0" ftr="0" dt="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189" y="1461988"/>
            <a:ext cx="11531312" cy="214610"/>
          </a:xfrm>
          <a:prstGeom prst="rect">
            <a:avLst/>
          </a:prstGeom>
          <a:noFill/>
          <a:ln/>
        </p:spPr>
        <p:txBody>
          <a:bodyPr wrap="none" lIns="0" tIns="0" rIns="0" bIns="0" rtlCol="0" anchor="t"/>
          <a:lstStyle/>
          <a:p>
            <a:pPr marL="0" indent="0" algn="l">
              <a:lnSpc>
                <a:spcPct val="108000"/>
              </a:lnSpc>
              <a:buNone/>
            </a:pPr>
            <a:r>
              <a:rPr lang="en-US" sz="1300" kern="100" spc="13" dirty="0">
                <a:solidFill>
                  <a:srgbClr val="C5E35A"/>
                </a:solidFill>
                <a:latin typeface="Fira Mono Medium" pitchFamily="34" charset="0"/>
                <a:ea typeface="Fira Mono Medium" pitchFamily="34" charset="-122"/>
                <a:cs typeface="Fira Mono Medium" pitchFamily="34" charset="-120"/>
              </a:rPr>
              <a:t>UE24CS352A · MACHINE LEARNING MINI-PROJECT</a:t>
            </a:r>
            <a:endParaRPr lang="en-US" sz="1300" dirty="0"/>
          </a:p>
        </p:txBody>
      </p:sp>
      <p:sp>
        <p:nvSpPr>
          <p:cNvPr id="3" name="Text 1"/>
          <p:cNvSpPr/>
          <p:nvPr/>
        </p:nvSpPr>
        <p:spPr>
          <a:xfrm>
            <a:off x="457189" y="1802329"/>
            <a:ext cx="11150321" cy="1173361"/>
          </a:xfrm>
          <a:prstGeom prst="rect">
            <a:avLst/>
          </a:prstGeom>
          <a:noFill/>
          <a:ln/>
        </p:spPr>
        <p:txBody>
          <a:bodyPr wrap="square" lIns="0" tIns="0" rIns="0" bIns="0" rtlCol="0" anchor="t">
            <a:normAutofit/>
          </a:bodyPr>
          <a:lstStyle/>
          <a:p>
            <a:pPr marL="0" indent="0" algn="l">
              <a:lnSpc>
                <a:spcPct val="87000"/>
              </a:lnSpc>
              <a:buNone/>
            </a:pPr>
            <a:r>
              <a:rPr lang="en-US" sz="4400" kern="100" spc="-66" dirty="0">
                <a:solidFill>
                  <a:srgbClr val="FFFFFF"/>
                </a:solidFill>
                <a:latin typeface="Schibsted Grotesk ExtraBold" pitchFamily="34" charset="0"/>
                <a:ea typeface="Schibsted Grotesk ExtraBold" pitchFamily="34" charset="-122"/>
                <a:cs typeface="Schibsted Grotesk ExtraBold" pitchFamily="34" charset="-120"/>
              </a:rPr>
              <a:t>Detecting Heart Abnormality Using ECG Features with CART</a:t>
            </a:r>
            <a:endParaRPr lang="en-US" sz="4400" dirty="0"/>
          </a:p>
        </p:txBody>
      </p:sp>
      <p:sp>
        <p:nvSpPr>
          <p:cNvPr id="4" name="Shape 2"/>
          <p:cNvSpPr/>
          <p:nvPr/>
        </p:nvSpPr>
        <p:spPr>
          <a:xfrm>
            <a:off x="457189" y="3181747"/>
            <a:ext cx="2787580" cy="50701"/>
          </a:xfrm>
          <a:prstGeom prst="roundRect">
            <a:avLst>
              <a:gd name="adj" fmla="val 49999"/>
            </a:avLst>
          </a:prstGeom>
          <a:solidFill>
            <a:srgbClr val="C5E35A"/>
          </a:solidFill>
          <a:ln/>
        </p:spPr>
      </p:sp>
      <p:sp>
        <p:nvSpPr>
          <p:cNvPr id="5" name="Text 3"/>
          <p:cNvSpPr/>
          <p:nvPr/>
        </p:nvSpPr>
        <p:spPr>
          <a:xfrm>
            <a:off x="457189" y="3471624"/>
            <a:ext cx="11150321" cy="754261"/>
          </a:xfrm>
          <a:prstGeom prst="rect">
            <a:avLst/>
          </a:prstGeom>
          <a:noFill/>
          <a:ln/>
        </p:spPr>
        <p:txBody>
          <a:bodyPr wrap="square" lIns="0" tIns="0" rIns="0" bIns="0" rtlCol="0" anchor="t">
            <a:normAutofit/>
          </a:bodyPr>
          <a:lstStyle/>
          <a:p>
            <a:pPr marL="0" indent="0" algn="l">
              <a:lnSpc>
                <a:spcPct val="113000"/>
              </a:lnSpc>
              <a:buNone/>
            </a:pPr>
            <a:r>
              <a:rPr lang="en-US" sz="2200" dirty="0">
                <a:solidFill>
                  <a:srgbClr val="FFFFFF"/>
                </a:solidFill>
                <a:latin typeface="Schibsted Grotesk Medium" pitchFamily="34" charset="0"/>
                <a:ea typeface="Schibsted Grotesk Medium" pitchFamily="34" charset="-122"/>
                <a:cs typeface="Schibsted Grotesk Medium" pitchFamily="34" charset="-120"/>
              </a:rPr>
              <a:t>Pruned CART decision tree vs Random Forest on 279 patient and signal attributes (UCI Arrhythmia).</a:t>
            </a:r>
            <a:endParaRPr lang="en-US" sz="2200" dirty="0"/>
          </a:p>
        </p:txBody>
      </p:sp>
      <p:sp>
        <p:nvSpPr>
          <p:cNvPr id="6" name="Text 4"/>
          <p:cNvSpPr/>
          <p:nvPr/>
        </p:nvSpPr>
        <p:spPr>
          <a:xfrm>
            <a:off x="457189" y="4397970"/>
            <a:ext cx="11150321" cy="1048841"/>
          </a:xfrm>
          <a:prstGeom prst="rect">
            <a:avLst/>
          </a:prstGeom>
          <a:noFill/>
          <a:ln/>
        </p:spPr>
        <p:txBody>
          <a:bodyPr wrap="square" lIns="0" tIns="0" rIns="0" bIns="0" rtlCol="0" anchor="t"/>
          <a:lstStyle/>
          <a:p>
            <a:pPr marL="0" indent="0" algn="l">
              <a:lnSpc>
                <a:spcPct val="108000"/>
              </a:lnSpc>
              <a:spcAft>
                <a:spcPts val="1350"/>
              </a:spcAft>
              <a:buNone/>
            </a:pPr>
            <a:r>
              <a:rPr lang="en-US" sz="1400" kern="100" spc="14" dirty="0">
                <a:solidFill>
                  <a:srgbClr val="A8C4B7"/>
                </a:solidFill>
                <a:latin typeface="Fira Mono Medium" pitchFamily="34" charset="0"/>
                <a:ea typeface="Fira Mono Medium" pitchFamily="34" charset="-122"/>
                <a:cs typeface="Fira Mono Medium" pitchFamily="34" charset="-120"/>
              </a:rPr>
              <a:t>Team: DHRITI KAMANI(PES1UG24AM085), DHRUV R(PES1UG24AM086)</a:t>
            </a:r>
            <a:endParaRPr lang="en-US" sz="1400" dirty="0"/>
          </a:p>
          <a:p>
            <a:pPr marL="0" indent="0" algn="l">
              <a:lnSpc>
                <a:spcPct val="108000"/>
              </a:lnSpc>
              <a:spcAft>
                <a:spcPts val="1350"/>
              </a:spcAft>
              <a:buNone/>
            </a:pPr>
            <a:r>
              <a:rPr lang="en-US" sz="1400" kern="100" spc="14" dirty="0">
                <a:solidFill>
                  <a:srgbClr val="A8C4B7"/>
                </a:solidFill>
                <a:latin typeface="Fira Mono Medium" pitchFamily="34" charset="0"/>
                <a:ea typeface="Fira Mono Medium" pitchFamily="34" charset="-122"/>
                <a:cs typeface="Fira Mono Medium" pitchFamily="34" charset="-120"/>
              </a:rPr>
              <a:t>Reference: Zhou, Garcia &amp; Rajbhandary, “Detecting Heart Abnormality using ECG with CART” (Stanford).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58786" y="1119088"/>
            <a:ext cx="11632909" cy="214610"/>
          </a:xfrm>
          <a:prstGeom prst="rect">
            <a:avLst/>
          </a:prstGeom>
          <a:noFill/>
          <a:ln/>
        </p:spPr>
        <p:txBody>
          <a:bodyPr wrap="none" lIns="0" tIns="0" rIns="0" bIns="0" rtlCol="0" anchor="t"/>
          <a:lstStyle/>
          <a:p>
            <a:pPr marL="0" indent="0" algn="l">
              <a:lnSpc>
                <a:spcPct val="108000"/>
              </a:lnSpc>
              <a:buNone/>
            </a:pPr>
            <a:r>
              <a:rPr lang="en-US" sz="1300" kern="100" spc="13" dirty="0">
                <a:solidFill>
                  <a:srgbClr val="C5E35A"/>
                </a:solidFill>
                <a:latin typeface="Fira Mono Medium" pitchFamily="34" charset="0"/>
                <a:ea typeface="Fira Mono Medium" pitchFamily="34" charset="-122"/>
                <a:cs typeface="Fira Mono Medium" pitchFamily="34" charset="-120"/>
              </a:rPr>
              <a:t>CLINICAL MOTIVATION &amp; AUDITABILITY</a:t>
            </a:r>
            <a:endParaRPr lang="en-US" sz="1300" dirty="0"/>
          </a:p>
        </p:txBody>
      </p:sp>
      <p:sp>
        <p:nvSpPr>
          <p:cNvPr id="3" name="Text 1"/>
          <p:cNvSpPr/>
          <p:nvPr/>
        </p:nvSpPr>
        <p:spPr>
          <a:xfrm>
            <a:off x="558786" y="1451319"/>
            <a:ext cx="11175720" cy="480020"/>
          </a:xfrm>
          <a:prstGeom prst="rect">
            <a:avLst/>
          </a:prstGeom>
          <a:noFill/>
          <a:ln/>
        </p:spPr>
        <p:txBody>
          <a:bodyPr wrap="none" lIns="0" tIns="0" rIns="0" bIns="0" rtlCol="0" anchor="t"/>
          <a:lstStyle/>
          <a:p>
            <a:pPr marL="0" indent="0" algn="l">
              <a:lnSpc>
                <a:spcPct val="87000"/>
              </a:lnSpc>
              <a:buNone/>
            </a:pPr>
            <a:r>
              <a:rPr lang="en-US" sz="3600" kern="100" spc="-54" dirty="0">
                <a:solidFill>
                  <a:srgbClr val="FFFFFF"/>
                </a:solidFill>
                <a:latin typeface="Schibsted Grotesk ExtraBold" pitchFamily="34" charset="0"/>
                <a:ea typeface="Schibsted Grotesk ExtraBold" pitchFamily="34" charset="-122"/>
                <a:cs typeface="Schibsted Grotesk ExtraBold" pitchFamily="34" charset="-120"/>
              </a:rPr>
              <a:t>Why decision trees for cardiac screening?</a:t>
            </a:r>
            <a:endParaRPr lang="en-US" sz="3600" dirty="0"/>
          </a:p>
        </p:txBody>
      </p:sp>
      <p:sp>
        <p:nvSpPr>
          <p:cNvPr id="4" name="Shape 2"/>
          <p:cNvSpPr/>
          <p:nvPr/>
        </p:nvSpPr>
        <p:spPr>
          <a:xfrm>
            <a:off x="558786" y="2145506"/>
            <a:ext cx="2793831" cy="50701"/>
          </a:xfrm>
          <a:prstGeom prst="roundRect">
            <a:avLst>
              <a:gd name="adj" fmla="val 49999"/>
            </a:avLst>
          </a:prstGeom>
          <a:solidFill>
            <a:srgbClr val="C5E35A"/>
          </a:solidFill>
          <a:ln/>
        </p:spPr>
      </p:sp>
      <p:sp>
        <p:nvSpPr>
          <p:cNvPr id="5" name="Text 3"/>
          <p:cNvSpPr/>
          <p:nvPr/>
        </p:nvSpPr>
        <p:spPr>
          <a:xfrm>
            <a:off x="558786" y="2433479"/>
            <a:ext cx="11175720" cy="617141"/>
          </a:xfrm>
          <a:prstGeom prst="rect">
            <a:avLst/>
          </a:prstGeom>
          <a:noFill/>
          <a:ln/>
        </p:spPr>
        <p:txBody>
          <a:bodyPr wrap="square" lIns="0" tIns="0" rIns="0" bIns="0" rtlCol="0" anchor="t">
            <a:normAutofit/>
          </a:bodyPr>
          <a:lstStyle/>
          <a:p>
            <a:pPr marL="0" indent="0" algn="l">
              <a:lnSpc>
                <a:spcPct val="113000"/>
              </a:lnSpc>
              <a:buNone/>
            </a:pPr>
            <a:r>
              <a:rPr lang="en-US" sz="1800" b="1" dirty="0">
                <a:solidFill>
                  <a:srgbClr val="FFFFFF"/>
                </a:solidFill>
                <a:latin typeface="Schibsted Grotesk Bold" pitchFamily="34" charset="0"/>
                <a:ea typeface="Schibsted Grotesk Bold" pitchFamily="34" charset="-122"/>
                <a:cs typeface="Schibsted Grotesk Bold" pitchFamily="34" charset="-120"/>
              </a:rPr>
              <a:t>Cardiovascular disease is a leading global cause of death.</a:t>
            </a:r>
            <a:r>
              <a:rPr lang="en-US" sz="1800" dirty="0">
                <a:solidFill>
                  <a:srgbClr val="FFFFFF"/>
                </a:solidFill>
                <a:latin typeface="Schibsted Grotesk Medium" pitchFamily="34" charset="0"/>
                <a:ea typeface="Schibsted Grotesk Medium" pitchFamily="34" charset="-122"/>
                <a:cs typeface="Schibsted Grotesk Medium" pitchFamily="34" charset="-120"/>
              </a:rPr>
              <a:t> Standard 12-lead ECG is an affordable, ubiquitous, first-line diagnostic test.</a:t>
            </a:r>
            <a:endParaRPr lang="en-US" sz="1800" dirty="0"/>
          </a:p>
        </p:txBody>
      </p:sp>
      <p:sp>
        <p:nvSpPr>
          <p:cNvPr id="6" name="Text 4"/>
          <p:cNvSpPr/>
          <p:nvPr/>
        </p:nvSpPr>
        <p:spPr>
          <a:xfrm>
            <a:off x="558786" y="3203019"/>
            <a:ext cx="11175720" cy="617141"/>
          </a:xfrm>
          <a:prstGeom prst="rect">
            <a:avLst/>
          </a:prstGeom>
          <a:noFill/>
          <a:ln/>
        </p:spPr>
        <p:txBody>
          <a:bodyPr wrap="square" lIns="0" tIns="0" rIns="0" bIns="0" rtlCol="0" anchor="t">
            <a:normAutofit/>
          </a:bodyPr>
          <a:lstStyle/>
          <a:p>
            <a:pPr marL="0" indent="0" algn="l">
              <a:lnSpc>
                <a:spcPct val="113000"/>
              </a:lnSpc>
              <a:buNone/>
            </a:pPr>
            <a:r>
              <a:rPr lang="en-US" sz="1800" b="1" dirty="0">
                <a:solidFill>
                  <a:srgbClr val="E3EEE7"/>
                </a:solidFill>
                <a:latin typeface="Schibsted Grotesk Bold" pitchFamily="34" charset="0"/>
                <a:ea typeface="Schibsted Grotesk Bold" pitchFamily="34" charset="-122"/>
                <a:cs typeface="Schibsted Grotesk Bold" pitchFamily="34" charset="-120"/>
              </a:rPr>
              <a:t>Predicting 16 categories from 279 attributes:</a:t>
            </a:r>
            <a:r>
              <a:rPr lang="en-US" sz="1800" dirty="0">
                <a:solidFill>
                  <a:srgbClr val="E3EEE7"/>
                </a:solidFill>
                <a:latin typeface="Schibsted Grotesk" pitchFamily="34" charset="0"/>
                <a:ea typeface="Schibsted Grotesk" pitchFamily="34" charset="-122"/>
                <a:cs typeface="Schibsted Grotesk" pitchFamily="34" charset="-120"/>
              </a:rPr>
              <a:t> Class 1 represents normal rhythm, while classes 2–16 capture distinct ventricular, atrial, and conduction abnormalities.</a:t>
            </a:r>
            <a:endParaRPr lang="en-US" sz="1800" dirty="0"/>
          </a:p>
        </p:txBody>
      </p:sp>
      <p:sp>
        <p:nvSpPr>
          <p:cNvPr id="7" name="Text 5"/>
          <p:cNvSpPr/>
          <p:nvPr/>
        </p:nvSpPr>
        <p:spPr>
          <a:xfrm>
            <a:off x="558786" y="3972560"/>
            <a:ext cx="11175720" cy="617141"/>
          </a:xfrm>
          <a:prstGeom prst="rect">
            <a:avLst/>
          </a:prstGeom>
          <a:noFill/>
          <a:ln/>
        </p:spPr>
        <p:txBody>
          <a:bodyPr wrap="square" lIns="0" tIns="0" rIns="0" bIns="0" rtlCol="0" anchor="t">
            <a:normAutofit/>
          </a:bodyPr>
          <a:lstStyle/>
          <a:p>
            <a:pPr marL="0" indent="0" algn="l">
              <a:lnSpc>
                <a:spcPct val="113000"/>
              </a:lnSpc>
              <a:buNone/>
            </a:pPr>
            <a:r>
              <a:rPr lang="en-US" sz="1800" b="1" dirty="0">
                <a:solidFill>
                  <a:srgbClr val="E3EEE7"/>
                </a:solidFill>
                <a:latin typeface="Schibsted Grotesk Bold" pitchFamily="34" charset="0"/>
                <a:ea typeface="Schibsted Grotesk Bold" pitchFamily="34" charset="-122"/>
                <a:cs typeface="Schibsted Grotesk Bold" pitchFamily="34" charset="-120"/>
              </a:rPr>
              <a:t>Auditable if-then paths:</a:t>
            </a:r>
            <a:r>
              <a:rPr lang="en-US" sz="1800" dirty="0">
                <a:solidFill>
                  <a:srgbClr val="E3EEE7"/>
                </a:solidFill>
                <a:latin typeface="Schibsted Grotesk" pitchFamily="34" charset="0"/>
                <a:ea typeface="Schibsted Grotesk" pitchFamily="34" charset="-122"/>
                <a:cs typeface="Schibsted Grotesk" pitchFamily="34" charset="-120"/>
              </a:rPr>
              <a:t> Unlike opaque neural models, binary tree splits reflect the hierarchical criteria cardiologists use to evaluate waveforms.</a:t>
            </a:r>
            <a:endParaRPr lang="en-US" sz="1800" dirty="0"/>
          </a:p>
        </p:txBody>
      </p:sp>
      <p:sp>
        <p:nvSpPr>
          <p:cNvPr id="8" name="Text 6"/>
          <p:cNvSpPr/>
          <p:nvPr/>
        </p:nvSpPr>
        <p:spPr>
          <a:xfrm>
            <a:off x="558786" y="4742101"/>
            <a:ext cx="11175720" cy="617141"/>
          </a:xfrm>
          <a:prstGeom prst="rect">
            <a:avLst/>
          </a:prstGeom>
          <a:noFill/>
          <a:ln/>
        </p:spPr>
        <p:txBody>
          <a:bodyPr wrap="square" lIns="0" tIns="0" rIns="0" bIns="0" rtlCol="0" anchor="t">
            <a:normAutofit/>
          </a:bodyPr>
          <a:lstStyle/>
          <a:p>
            <a:pPr marL="0" indent="0" algn="l">
              <a:lnSpc>
                <a:spcPct val="113000"/>
              </a:lnSpc>
              <a:buNone/>
            </a:pPr>
            <a:r>
              <a:rPr lang="en-US" sz="1800" b="1" dirty="0">
                <a:solidFill>
                  <a:srgbClr val="E3EEE7"/>
                </a:solidFill>
                <a:latin typeface="Schibsted Grotesk Bold" pitchFamily="34" charset="0"/>
                <a:ea typeface="Schibsted Grotesk Bold" pitchFamily="34" charset="-122"/>
                <a:cs typeface="Schibsted Grotesk Bold" pitchFamily="34" charset="-120"/>
              </a:rPr>
              <a:t>Severe class imbalance:</a:t>
            </a:r>
            <a:r>
              <a:rPr lang="en-US" sz="1800" dirty="0">
                <a:solidFill>
                  <a:srgbClr val="E3EEE7"/>
                </a:solidFill>
                <a:latin typeface="Schibsted Grotesk" pitchFamily="34" charset="0"/>
                <a:ea typeface="Schibsted Grotesk" pitchFamily="34" charset="-122"/>
                <a:cs typeface="Schibsted Grotesk" pitchFamily="34" charset="-120"/>
              </a:rPr>
              <a:t> Skewed category distributions mean standard accuracy obscures catastrophic false negatives in life-threatening arrhythmias.</a:t>
            </a:r>
            <a:endParaRPr lang="en-US" sz="1800" dirty="0"/>
          </a:p>
        </p:txBody>
      </p:sp>
      <p:sp>
        <p:nvSpPr>
          <p:cNvPr id="9" name="Text 7"/>
          <p:cNvSpPr/>
          <p:nvPr/>
        </p:nvSpPr>
        <p:spPr>
          <a:xfrm>
            <a:off x="11793739" y="6526510"/>
            <a:ext cx="397956" cy="205680"/>
          </a:xfrm>
          <a:prstGeom prst="rect">
            <a:avLst/>
          </a:prstGeom>
          <a:noFill/>
          <a:ln/>
        </p:spPr>
        <p:txBody>
          <a:bodyPr wrap="none" lIns="0" tIns="0" rIns="0" bIns="0" rtlCol="0" anchor="ctr"/>
          <a:lstStyle/>
          <a:p>
            <a:pPr marL="0" indent="0" algn="l">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153987"/>
            <a:ext cx="6045049" cy="214610"/>
          </a:xfrm>
          <a:prstGeom prst="rect">
            <a:avLst/>
          </a:prstGeom>
          <a:noFill/>
          <a:ln/>
        </p:spPr>
        <p:txBody>
          <a:bodyPr wrap="none" lIns="0" tIns="0" rIns="0" bIns="0" rtlCol="0" anchor="t"/>
          <a:lstStyle/>
          <a:p>
            <a:pPr marL="0" indent="0" algn="l">
              <a:lnSpc>
                <a:spcPct val="108000"/>
              </a:lnSpc>
              <a:buNone/>
            </a:pPr>
            <a:r>
              <a:rPr lang="en-US" sz="1300" kern="100" spc="13" dirty="0">
                <a:solidFill>
                  <a:srgbClr val="C5E35A"/>
                </a:solidFill>
                <a:latin typeface="Fira Mono Medium" pitchFamily="34" charset="0"/>
                <a:ea typeface="Fira Mono Medium" pitchFamily="34" charset="-122"/>
                <a:cs typeface="Fira Mono Medium" pitchFamily="34" charset="-120"/>
              </a:rPr>
              <a:t>BENCHMARK DATASET</a:t>
            </a:r>
            <a:endParaRPr lang="en-US" sz="1300" dirty="0"/>
          </a:p>
        </p:txBody>
      </p:sp>
      <p:sp>
        <p:nvSpPr>
          <p:cNvPr id="3" name="Text 1"/>
          <p:cNvSpPr/>
          <p:nvPr/>
        </p:nvSpPr>
        <p:spPr>
          <a:xfrm>
            <a:off x="457189" y="486218"/>
            <a:ext cx="5791055" cy="960041"/>
          </a:xfrm>
          <a:prstGeom prst="rect">
            <a:avLst/>
          </a:prstGeom>
          <a:noFill/>
          <a:ln/>
        </p:spPr>
        <p:txBody>
          <a:bodyPr wrap="square" lIns="0" tIns="0" rIns="0" bIns="0" rtlCol="0" anchor="t">
            <a:normAutofit/>
          </a:bodyPr>
          <a:lstStyle/>
          <a:p>
            <a:pPr marL="0" indent="0" algn="l">
              <a:lnSpc>
                <a:spcPct val="87000"/>
              </a:lnSpc>
              <a:buNone/>
            </a:pPr>
            <a:r>
              <a:rPr lang="en-US" sz="3600" kern="100" spc="-54" dirty="0">
                <a:solidFill>
                  <a:srgbClr val="FFFFFF"/>
                </a:solidFill>
                <a:latin typeface="Schibsted Grotesk ExtraBold" pitchFamily="34" charset="0"/>
                <a:ea typeface="Schibsted Grotesk ExtraBold" pitchFamily="34" charset="-122"/>
                <a:cs typeface="Schibsted Grotesk ExtraBold" pitchFamily="34" charset="-120"/>
              </a:rPr>
              <a:t>UCI Arrhythmia: 452 patients, 279 features</a:t>
            </a:r>
            <a:endParaRPr lang="en-US" sz="3600" dirty="0"/>
          </a:p>
        </p:txBody>
      </p:sp>
      <p:sp>
        <p:nvSpPr>
          <p:cNvPr id="4" name="Shape 2"/>
          <p:cNvSpPr/>
          <p:nvPr/>
        </p:nvSpPr>
        <p:spPr>
          <a:xfrm>
            <a:off x="457189" y="1660426"/>
            <a:ext cx="1447764" cy="50701"/>
          </a:xfrm>
          <a:prstGeom prst="roundRect">
            <a:avLst>
              <a:gd name="adj" fmla="val 49999"/>
            </a:avLst>
          </a:prstGeom>
          <a:solidFill>
            <a:srgbClr val="C5E35A"/>
          </a:solidFill>
          <a:ln/>
        </p:spPr>
      </p:sp>
      <p:sp>
        <p:nvSpPr>
          <p:cNvPr id="5" name="Text 3"/>
          <p:cNvSpPr/>
          <p:nvPr/>
        </p:nvSpPr>
        <p:spPr>
          <a:xfrm>
            <a:off x="457189" y="1948398"/>
            <a:ext cx="5791055" cy="925711"/>
          </a:xfrm>
          <a:prstGeom prst="rect">
            <a:avLst/>
          </a:prstGeom>
          <a:noFill/>
          <a:ln/>
        </p:spPr>
        <p:txBody>
          <a:bodyPr wrap="square" lIns="0" tIns="0" rIns="0" bIns="0" rtlCol="0" anchor="t">
            <a:normAutofit/>
          </a:bodyPr>
          <a:lstStyle/>
          <a:p>
            <a:pPr marL="0" indent="0" algn="l">
              <a:lnSpc>
                <a:spcPct val="113000"/>
              </a:lnSpc>
              <a:buNone/>
            </a:pPr>
            <a:r>
              <a:rPr lang="en-US" sz="1600" b="1" dirty="0">
                <a:solidFill>
                  <a:srgbClr val="E3EEE7"/>
                </a:solidFill>
                <a:latin typeface="Schibsted Grotesk Bold" pitchFamily="34" charset="0"/>
                <a:ea typeface="Schibsted Grotesk Bold" pitchFamily="34" charset="-122"/>
                <a:cs typeface="Schibsted Grotesk Bold" pitchFamily="34" charset="-120"/>
              </a:rPr>
              <a:t>Dimensionality:</a:t>
            </a:r>
            <a:r>
              <a:rPr lang="en-US" sz="1600" dirty="0">
                <a:solidFill>
                  <a:srgbClr val="E3EEE7"/>
                </a:solidFill>
                <a:latin typeface="Schibsted Grotesk" pitchFamily="34" charset="0"/>
                <a:ea typeface="Schibsted Grotesk" pitchFamily="34" charset="-122"/>
                <a:cs typeface="Schibsted Grotesk" pitchFamily="34" charset="-120"/>
              </a:rPr>
              <a:t> 452 patient records with 279 continuous and nominal predictors, spanning demographic metrics and 12-lead ECG morphology.</a:t>
            </a:r>
            <a:endParaRPr lang="en-US" sz="1600" dirty="0"/>
          </a:p>
        </p:txBody>
      </p:sp>
      <p:sp>
        <p:nvSpPr>
          <p:cNvPr id="6" name="Text 4"/>
          <p:cNvSpPr/>
          <p:nvPr/>
        </p:nvSpPr>
        <p:spPr>
          <a:xfrm>
            <a:off x="457189" y="3026509"/>
            <a:ext cx="5791055" cy="925711"/>
          </a:xfrm>
          <a:prstGeom prst="rect">
            <a:avLst/>
          </a:prstGeom>
          <a:noFill/>
          <a:ln/>
        </p:spPr>
        <p:txBody>
          <a:bodyPr wrap="square" lIns="0" tIns="0" rIns="0" bIns="0" rtlCol="0" anchor="t">
            <a:normAutofit/>
          </a:bodyPr>
          <a:lstStyle/>
          <a:p>
            <a:pPr marL="0" indent="0" algn="l">
              <a:lnSpc>
                <a:spcPct val="113000"/>
              </a:lnSpc>
              <a:buNone/>
            </a:pPr>
            <a:r>
              <a:rPr lang="en-US" sz="1600" b="1" dirty="0">
                <a:solidFill>
                  <a:srgbClr val="E3EEE7"/>
                </a:solidFill>
                <a:latin typeface="Schibsted Grotesk Bold" pitchFamily="34" charset="0"/>
                <a:ea typeface="Schibsted Grotesk Bold" pitchFamily="34" charset="-122"/>
                <a:cs typeface="Schibsted Grotesk Bold" pitchFamily="34" charset="-120"/>
              </a:rPr>
              <a:t>Clinical attributes:</a:t>
            </a:r>
            <a:r>
              <a:rPr lang="en-US" sz="1600" dirty="0">
                <a:solidFill>
                  <a:srgbClr val="E3EEE7"/>
                </a:solidFill>
                <a:latin typeface="Schibsted Grotesk" pitchFamily="34" charset="0"/>
                <a:ea typeface="Schibsted Grotesk" pitchFamily="34" charset="-122"/>
                <a:cs typeface="Schibsted Grotesk" pitchFamily="34" charset="-120"/>
              </a:rPr>
              <a:t> First 15 features cover age, sex, height, weight, heart rate, and vector angles (P, QRS, T, T-QRS, J).</a:t>
            </a:r>
            <a:endParaRPr lang="en-US" sz="1600" dirty="0"/>
          </a:p>
        </p:txBody>
      </p:sp>
      <p:sp>
        <p:nvSpPr>
          <p:cNvPr id="7" name="Text 5"/>
          <p:cNvSpPr/>
          <p:nvPr/>
        </p:nvSpPr>
        <p:spPr>
          <a:xfrm>
            <a:off x="457189" y="4104620"/>
            <a:ext cx="5791055" cy="935930"/>
          </a:xfrm>
          <a:prstGeom prst="rect">
            <a:avLst/>
          </a:prstGeom>
          <a:noFill/>
          <a:ln/>
        </p:spPr>
        <p:txBody>
          <a:bodyPr wrap="square" lIns="0" tIns="0" rIns="0" bIns="0" rtlCol="0" anchor="t">
            <a:normAutofit/>
          </a:bodyPr>
          <a:lstStyle/>
          <a:p>
            <a:pPr marL="0" indent="0" algn="l">
              <a:lnSpc>
                <a:spcPct val="113000"/>
              </a:lnSpc>
              <a:buNone/>
            </a:pPr>
            <a:r>
              <a:rPr lang="en-US" sz="1600" b="1" dirty="0">
                <a:solidFill>
                  <a:srgbClr val="E3EEE7"/>
                </a:solidFill>
                <a:latin typeface="Schibsted Grotesk Bold" pitchFamily="34" charset="0"/>
                <a:ea typeface="Schibsted Grotesk Bold" pitchFamily="34" charset="-122"/>
                <a:cs typeface="Schibsted Grotesk Bold" pitchFamily="34" charset="-120"/>
              </a:rPr>
              <a:t>Missing data pattern:</a:t>
            </a:r>
            <a:r>
              <a:rPr lang="en-US" sz="1600" dirty="0">
                <a:solidFill>
                  <a:srgbClr val="E3EEE7"/>
                </a:solidFill>
                <a:latin typeface="Schibsted Grotesk" pitchFamily="34" charset="0"/>
                <a:ea typeface="Schibsted Grotesk" pitchFamily="34" charset="-122"/>
                <a:cs typeface="Schibsted Grotesk" pitchFamily="34" charset="-120"/>
              </a:rPr>
              <a:t> Feature 14 (</a:t>
            </a:r>
            <a:r>
              <a:rPr lang="en-US" sz="1600" i="1" dirty="0">
                <a:solidFill>
                  <a:srgbClr val="E3EEE7"/>
                </a:solidFill>
                <a:latin typeface="Consolas" pitchFamily="34" charset="0"/>
                <a:ea typeface="Consolas" pitchFamily="34" charset="-122"/>
                <a:cs typeface="Consolas" pitchFamily="34" charset="-120"/>
              </a:rPr>
              <a:t>f14 = j_angle</a:t>
            </a:r>
            <a:r>
              <a:rPr lang="en-US" sz="1600" dirty="0">
                <a:solidFill>
                  <a:srgbClr val="E3EEE7"/>
                </a:solidFill>
                <a:latin typeface="Schibsted Grotesk" pitchFamily="34" charset="0"/>
                <a:ea typeface="Schibsted Grotesk" pitchFamily="34" charset="-122"/>
                <a:cs typeface="Schibsted Grotesk" pitchFamily="34" charset="-120"/>
              </a:rPr>
              <a:t>) is 83.2% missing (376/452 rows). Four other features contain 1–22 missing entries.</a:t>
            </a:r>
            <a:endParaRPr lang="en-US" sz="1600" dirty="0"/>
          </a:p>
        </p:txBody>
      </p:sp>
      <p:sp>
        <p:nvSpPr>
          <p:cNvPr id="9" name="Text 6"/>
          <p:cNvSpPr/>
          <p:nvPr/>
        </p:nvSpPr>
        <p:spPr>
          <a:xfrm>
            <a:off x="457189" y="5192951"/>
            <a:ext cx="5791055" cy="925711"/>
          </a:xfrm>
          <a:prstGeom prst="rect">
            <a:avLst/>
          </a:prstGeom>
          <a:noFill/>
          <a:ln/>
        </p:spPr>
        <p:txBody>
          <a:bodyPr wrap="square" lIns="0" tIns="0" rIns="0" bIns="0" rtlCol="0" anchor="t">
            <a:normAutofit/>
          </a:bodyPr>
          <a:lstStyle/>
          <a:p>
            <a:pPr marL="0" indent="0" algn="l">
              <a:lnSpc>
                <a:spcPct val="113000"/>
              </a:lnSpc>
              <a:buNone/>
            </a:pPr>
            <a:r>
              <a:rPr lang="en-US" sz="1600" b="1" dirty="0">
                <a:solidFill>
                  <a:srgbClr val="E3EEE7"/>
                </a:solidFill>
                <a:latin typeface="Schibsted Grotesk Bold" pitchFamily="34" charset="0"/>
                <a:ea typeface="Schibsted Grotesk Bold" pitchFamily="34" charset="-122"/>
                <a:cs typeface="Schibsted Grotesk Bold" pitchFamily="34" charset="-120"/>
              </a:rPr>
              <a:t>Extreme imbalance:</a:t>
            </a:r>
            <a:r>
              <a:rPr lang="en-US" sz="1600" dirty="0">
                <a:solidFill>
                  <a:srgbClr val="E3EEE7"/>
                </a:solidFill>
                <a:latin typeface="Schibsted Grotesk" pitchFamily="34" charset="0"/>
                <a:ea typeface="Schibsted Grotesk" pitchFamily="34" charset="-122"/>
                <a:cs typeface="Schibsted Grotesk" pitchFamily="34" charset="-120"/>
              </a:rPr>
              <a:t> Class 1 (normal) accounts for 245 cases (54.2%), while rare arrhythmia classes have as few as 2–5 instances.</a:t>
            </a:r>
            <a:endParaRPr lang="en-US" sz="1600" dirty="0"/>
          </a:p>
        </p:txBody>
      </p:sp>
      <p:sp>
        <p:nvSpPr>
          <p:cNvPr id="10" name="Text 7"/>
          <p:cNvSpPr/>
          <p:nvPr/>
        </p:nvSpPr>
        <p:spPr>
          <a:xfrm>
            <a:off x="457189" y="6292652"/>
            <a:ext cx="5791055" cy="462161"/>
          </a:xfrm>
          <a:prstGeom prst="rect">
            <a:avLst/>
          </a:prstGeom>
          <a:noFill/>
          <a:ln/>
        </p:spPr>
        <p:txBody>
          <a:bodyPr wrap="square" lIns="0" tIns="0" rIns="0" bIns="0" rtlCol="0" anchor="t">
            <a:normAutofit/>
          </a:bodyPr>
          <a:lstStyle/>
          <a:p>
            <a:pPr marL="0" indent="0" algn="l">
              <a:lnSpc>
                <a:spcPct val="108000"/>
              </a:lnSpc>
              <a:buNone/>
            </a:pPr>
            <a:endParaRPr lang="en-US" sz="1400" dirty="0"/>
          </a:p>
        </p:txBody>
      </p:sp>
      <p:sp>
        <p:nvSpPr>
          <p:cNvPr id="11" name="Shape 8"/>
          <p:cNvSpPr/>
          <p:nvPr/>
        </p:nvSpPr>
        <p:spPr>
          <a:xfrm>
            <a:off x="8666938" y="1256308"/>
            <a:ext cx="3067569" cy="338435"/>
          </a:xfrm>
          <a:prstGeom prst="roundRect">
            <a:avLst>
              <a:gd name="adj" fmla="val 49999"/>
            </a:avLst>
          </a:prstGeom>
          <a:noFill/>
          <a:ln w="6350">
            <a:solidFill>
              <a:srgbClr val="C5E35A"/>
            </a:solidFill>
            <a:prstDash val="solid"/>
          </a:ln>
        </p:spPr>
      </p:sp>
      <p:sp>
        <p:nvSpPr>
          <p:cNvPr id="12" name="Text 9"/>
          <p:cNvSpPr/>
          <p:nvPr/>
        </p:nvSpPr>
        <p:spPr>
          <a:xfrm>
            <a:off x="8790760" y="1318220"/>
            <a:ext cx="3400935" cy="214610"/>
          </a:xfrm>
          <a:prstGeom prst="rect">
            <a:avLst/>
          </a:prstGeom>
          <a:noFill/>
          <a:ln/>
        </p:spPr>
        <p:txBody>
          <a:bodyPr wrap="none" lIns="0" tIns="0" rIns="0" bIns="0" rtlCol="0" anchor="t"/>
          <a:lstStyle/>
          <a:p>
            <a:pPr marL="0" indent="0" algn="l">
              <a:lnSpc>
                <a:spcPct val="108000"/>
              </a:lnSpc>
              <a:buNone/>
            </a:pPr>
            <a:r>
              <a:rPr lang="en-US" sz="1300" kern="100" spc="13" dirty="0">
                <a:solidFill>
                  <a:srgbClr val="FFFFFF"/>
                </a:solidFill>
                <a:latin typeface="Fira Mono Medium" pitchFamily="34" charset="0"/>
                <a:ea typeface="Fira Mono Medium" pitchFamily="34" charset="-122"/>
                <a:cs typeface="Fira Mono Medium" pitchFamily="34" charset="-120"/>
              </a:rPr>
              <a:t>Class distribution · n = 452</a:t>
            </a:r>
            <a:endParaRPr lang="en-US" sz="1300" dirty="0"/>
          </a:p>
        </p:txBody>
      </p:sp>
      <p:pic>
        <p:nvPicPr>
          <p:cNvPr id="13" name="Image 1" descr="preencoded.png"/>
          <p:cNvPicPr>
            <a:picLocks noChangeAspect="1"/>
          </p:cNvPicPr>
          <p:nvPr/>
        </p:nvPicPr>
        <p:blipFill>
          <a:blip r:embed="rId3"/>
          <a:stretch>
            <a:fillRect/>
          </a:stretch>
        </p:blipFill>
        <p:spPr>
          <a:xfrm>
            <a:off x="6654634" y="1772543"/>
            <a:ext cx="5079873" cy="3287613"/>
          </a:xfrm>
          <a:prstGeom prst="rect">
            <a:avLst/>
          </a:prstGeom>
        </p:spPr>
      </p:pic>
      <p:sp>
        <p:nvSpPr>
          <p:cNvPr id="14" name="Text 10"/>
          <p:cNvSpPr/>
          <p:nvPr/>
        </p:nvSpPr>
        <p:spPr>
          <a:xfrm>
            <a:off x="6654634" y="5139531"/>
            <a:ext cx="5079873" cy="462161"/>
          </a:xfrm>
          <a:prstGeom prst="rect">
            <a:avLst/>
          </a:prstGeom>
          <a:noFill/>
          <a:ln/>
        </p:spPr>
        <p:txBody>
          <a:bodyPr wrap="square" lIns="0" tIns="0" rIns="0" bIns="0" rtlCol="0" anchor="t">
            <a:normAutofit/>
          </a:bodyPr>
          <a:lstStyle/>
          <a:p>
            <a:pPr marL="0" indent="0" algn="l">
              <a:lnSpc>
                <a:spcPct val="108000"/>
              </a:lnSpc>
              <a:buNone/>
            </a:pPr>
            <a:r>
              <a:rPr lang="en-US" sz="1400" kern="100" spc="14" dirty="0">
                <a:solidFill>
                  <a:srgbClr val="A8C4B7"/>
                </a:solidFill>
                <a:latin typeface="Fira Mono Medium" pitchFamily="34" charset="0"/>
                <a:ea typeface="Fira Mono Medium" pitchFamily="34" charset="-122"/>
                <a:cs typeface="Fira Mono Medium" pitchFamily="34" charset="-120"/>
              </a:rPr>
              <a:t>Class 1 dominates with 245 rows; classes 7, 8, 14, and 15 contain under 5 patients each.</a:t>
            </a:r>
            <a:endParaRPr lang="en-US" sz="1400" dirty="0"/>
          </a:p>
        </p:txBody>
      </p:sp>
      <p:sp>
        <p:nvSpPr>
          <p:cNvPr id="15" name="Text 11"/>
          <p:cNvSpPr/>
          <p:nvPr/>
        </p:nvSpPr>
        <p:spPr>
          <a:xfrm>
            <a:off x="11791953" y="6526510"/>
            <a:ext cx="399742" cy="205680"/>
          </a:xfrm>
          <a:prstGeom prst="rect">
            <a:avLst/>
          </a:prstGeom>
          <a:noFill/>
          <a:ln/>
        </p:spPr>
        <p:txBody>
          <a:bodyPr wrap="none" lIns="0" tIns="0" rIns="0" bIns="0" rtlCol="0" anchor="ctr"/>
          <a:lstStyle/>
          <a:p>
            <a:pPr marL="0" indent="0" algn="l">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381000"/>
            <a:ext cx="11734506" cy="214610"/>
          </a:xfrm>
          <a:prstGeom prst="rect">
            <a:avLst/>
          </a:prstGeom>
          <a:noFill/>
          <a:ln/>
        </p:spPr>
        <p:txBody>
          <a:bodyPr wrap="none" lIns="0" tIns="0" rIns="0" bIns="0" rtlCol="0" anchor="t"/>
          <a:lstStyle/>
          <a:p>
            <a:pPr marL="0" indent="0" algn="l">
              <a:lnSpc>
                <a:spcPct val="108000"/>
              </a:lnSpc>
              <a:buNone/>
            </a:pPr>
            <a:r>
              <a:rPr lang="en-US" sz="1300" kern="100" spc="13" dirty="0">
                <a:solidFill>
                  <a:srgbClr val="C5E35A"/>
                </a:solidFill>
                <a:latin typeface="Fira Mono Medium" pitchFamily="34" charset="0"/>
                <a:ea typeface="Fira Mono Medium" pitchFamily="34" charset="-122"/>
                <a:cs typeface="Fira Mono Medium" pitchFamily="34" charset="-120"/>
              </a:rPr>
              <a:t>PIPELINE ARCHITECTURE</a:t>
            </a:r>
            <a:endParaRPr lang="en-US" sz="1300" dirty="0"/>
          </a:p>
        </p:txBody>
      </p:sp>
      <p:sp>
        <p:nvSpPr>
          <p:cNvPr id="3" name="Text 1"/>
          <p:cNvSpPr/>
          <p:nvPr/>
        </p:nvSpPr>
        <p:spPr>
          <a:xfrm>
            <a:off x="457189" y="713230"/>
            <a:ext cx="11277318" cy="960041"/>
          </a:xfrm>
          <a:prstGeom prst="rect">
            <a:avLst/>
          </a:prstGeom>
          <a:noFill/>
          <a:ln/>
        </p:spPr>
        <p:txBody>
          <a:bodyPr wrap="square" lIns="0" tIns="0" rIns="0" bIns="0" rtlCol="0" anchor="t">
            <a:normAutofit/>
          </a:bodyPr>
          <a:lstStyle/>
          <a:p>
            <a:pPr marL="0" indent="0" algn="l">
              <a:lnSpc>
                <a:spcPct val="87000"/>
              </a:lnSpc>
              <a:buNone/>
            </a:pPr>
            <a:r>
              <a:rPr lang="en-US" sz="3600" kern="100" spc="-54" dirty="0">
                <a:solidFill>
                  <a:srgbClr val="FFFFFF"/>
                </a:solidFill>
                <a:latin typeface="Schibsted Grotesk ExtraBold" pitchFamily="34" charset="0"/>
                <a:ea typeface="Schibsted Grotesk ExtraBold" pitchFamily="34" charset="-122"/>
                <a:cs typeface="Schibsted Grotesk ExtraBold" pitchFamily="34" charset="-120"/>
              </a:rPr>
              <a:t>Leak-free preprocessing and cross-validation workflow</a:t>
            </a:r>
            <a:endParaRPr lang="en-US" sz="3600" dirty="0"/>
          </a:p>
        </p:txBody>
      </p:sp>
      <p:sp>
        <p:nvSpPr>
          <p:cNvPr id="4" name="Text 2"/>
          <p:cNvSpPr/>
          <p:nvPr/>
        </p:nvSpPr>
        <p:spPr>
          <a:xfrm>
            <a:off x="457189" y="1765836"/>
            <a:ext cx="11277318" cy="61714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FFFFFF"/>
                </a:solidFill>
                <a:latin typeface="Schibsted Grotesk Medium" pitchFamily="34" charset="0"/>
                <a:ea typeface="Schibsted Grotesk Medium" pitchFamily="34" charset="-122"/>
                <a:cs typeface="Schibsted Grotesk Medium" pitchFamily="34" charset="-120"/>
              </a:rPr>
              <a:t>Dropping, imputation and hyper-parameter tuning are all learned strictly from training rows.</a:t>
            </a:r>
            <a:endParaRPr lang="en-US" sz="1800" dirty="0"/>
          </a:p>
        </p:txBody>
      </p:sp>
      <p:sp>
        <p:nvSpPr>
          <p:cNvPr id="5" name="Shape 3"/>
          <p:cNvSpPr/>
          <p:nvPr/>
        </p:nvSpPr>
        <p:spPr>
          <a:xfrm>
            <a:off x="457189" y="2670870"/>
            <a:ext cx="2590735" cy="3283347"/>
          </a:xfrm>
          <a:prstGeom prst="roundRect">
            <a:avLst>
              <a:gd name="adj" fmla="val 4706"/>
            </a:avLst>
          </a:prstGeom>
          <a:solidFill>
            <a:srgbClr val="F7FAF4"/>
          </a:solidFill>
          <a:ln/>
        </p:spPr>
      </p:sp>
      <p:sp>
        <p:nvSpPr>
          <p:cNvPr id="6" name="Text 4"/>
          <p:cNvSpPr/>
          <p:nvPr/>
        </p:nvSpPr>
        <p:spPr>
          <a:xfrm>
            <a:off x="660383" y="2874070"/>
            <a:ext cx="840560" cy="228600"/>
          </a:xfrm>
          <a:prstGeom prst="rect">
            <a:avLst/>
          </a:prstGeom>
          <a:noFill/>
          <a:ln/>
        </p:spPr>
        <p:txBody>
          <a:bodyPr wrap="none" lIns="0" tIns="0" rIns="0" bIns="0" rtlCol="0" anchor="t"/>
          <a:lstStyle/>
          <a:p>
            <a:pPr marL="0" indent="0" algn="l">
              <a:lnSpc>
                <a:spcPct val="83000"/>
              </a:lnSpc>
              <a:buNone/>
            </a:pPr>
            <a:r>
              <a:rPr lang="en-US" sz="1800" dirty="0">
                <a:solidFill>
                  <a:srgbClr val="000000"/>
                </a:solidFill>
                <a:latin typeface="Schibsted Grotesk SemiBold" pitchFamily="34" charset="0"/>
                <a:ea typeface="Schibsted Grotesk SemiBold" pitchFamily="34" charset="-122"/>
                <a:cs typeface="Schibsted Grotesk SemiBold" pitchFamily="34" charset="-120"/>
              </a:rPr>
              <a:t>01</a:t>
            </a:r>
            <a:endParaRPr lang="en-US" sz="1800" dirty="0"/>
          </a:p>
        </p:txBody>
      </p:sp>
      <p:sp>
        <p:nvSpPr>
          <p:cNvPr id="7" name="Shape 5"/>
          <p:cNvSpPr/>
          <p:nvPr/>
        </p:nvSpPr>
        <p:spPr>
          <a:xfrm>
            <a:off x="457189" y="3194149"/>
            <a:ext cx="2590735" cy="19050"/>
          </a:xfrm>
          <a:prstGeom prst="rect">
            <a:avLst/>
          </a:prstGeom>
          <a:solidFill>
            <a:srgbClr val="C5E35A"/>
          </a:solidFill>
          <a:ln/>
        </p:spPr>
      </p:sp>
      <p:sp>
        <p:nvSpPr>
          <p:cNvPr id="8" name="Text 6"/>
          <p:cNvSpPr/>
          <p:nvPr/>
        </p:nvSpPr>
        <p:spPr>
          <a:xfrm>
            <a:off x="660383" y="3358257"/>
            <a:ext cx="2184345" cy="330200"/>
          </a:xfrm>
          <a:prstGeom prst="rect">
            <a:avLst/>
          </a:prstGeom>
          <a:noFill/>
          <a:ln/>
        </p:spPr>
        <p:txBody>
          <a:bodyPr wrap="none" lIns="0" tIns="0" rIns="0" bIns="0" rtlCol="0" anchor="t"/>
          <a:lstStyle/>
          <a:p>
            <a:pPr marL="0" indent="0" algn="l">
              <a:lnSpc>
                <a:spcPct val="108000"/>
              </a:lnSpc>
              <a:buNone/>
            </a:pPr>
            <a:r>
              <a:rPr lang="en-US" sz="2000" dirty="0">
                <a:solidFill>
                  <a:srgbClr val="000000"/>
                </a:solidFill>
                <a:latin typeface="Schibsted Grotesk Medium" pitchFamily="34" charset="0"/>
                <a:ea typeface="Schibsted Grotesk Medium" pitchFamily="34" charset="-122"/>
                <a:cs typeface="Schibsted Grotesk Medium" pitchFamily="34" charset="-120"/>
              </a:rPr>
              <a:t>01 · Load &amp; split</a:t>
            </a:r>
            <a:endParaRPr lang="en-US" sz="2000" dirty="0"/>
          </a:p>
        </p:txBody>
      </p:sp>
      <p:sp>
        <p:nvSpPr>
          <p:cNvPr id="9" name="Text 7"/>
          <p:cNvSpPr/>
          <p:nvPr/>
        </p:nvSpPr>
        <p:spPr>
          <a:xfrm>
            <a:off x="660383" y="3828395"/>
            <a:ext cx="2184345" cy="1597422"/>
          </a:xfrm>
          <a:prstGeom prst="rect">
            <a:avLst/>
          </a:prstGeom>
          <a:noFill/>
          <a:ln/>
        </p:spPr>
        <p:txBody>
          <a:bodyPr wrap="square" lIns="0" tIns="0" rIns="0" bIns="0" rtlCol="0" anchor="t">
            <a:normAutofit/>
          </a:bodyPr>
          <a:lstStyle/>
          <a:p>
            <a:pPr marL="0" indent="0" algn="l">
              <a:lnSpc>
                <a:spcPct val="112000"/>
              </a:lnSpc>
              <a:buNone/>
            </a:pPr>
            <a:r>
              <a:rPr lang="en-US" sz="1550" dirty="0">
                <a:solidFill>
                  <a:srgbClr val="000000"/>
                </a:solidFill>
                <a:latin typeface="Schibsted Grotesk" pitchFamily="34" charset="0"/>
                <a:ea typeface="Schibsted Grotesk" pitchFamily="34" charset="-122"/>
                <a:cs typeface="Schibsted Grotesk" pitchFamily="34" charset="-120"/>
              </a:rPr>
              <a:t>Verify shape (452 × 280) and labels. Lock 30% of patients in a stratified test set (</a:t>
            </a:r>
            <a:r>
              <a:rPr lang="en-US" sz="1450" i="1" dirty="0">
                <a:solidFill>
                  <a:srgbClr val="000000"/>
                </a:solidFill>
                <a:latin typeface="Consolas" pitchFamily="34" charset="0"/>
                <a:ea typeface="Consolas" pitchFamily="34" charset="-122"/>
                <a:cs typeface="Consolas" pitchFamily="34" charset="-120"/>
              </a:rPr>
              <a:t>seed 42</a:t>
            </a:r>
            <a:r>
              <a:rPr lang="en-US" sz="1550" dirty="0">
                <a:solidFill>
                  <a:srgbClr val="000000"/>
                </a:solidFill>
                <a:latin typeface="Schibsted Grotesk" pitchFamily="34" charset="0"/>
                <a:ea typeface="Schibsted Grotesk" pitchFamily="34" charset="-122"/>
                <a:cs typeface="Schibsted Grotesk" pitchFamily="34" charset="-120"/>
              </a:rPr>
              <a:t>) untouched until final testing.</a:t>
            </a:r>
            <a:endParaRPr lang="en-US" sz="1550" dirty="0"/>
          </a:p>
        </p:txBody>
      </p:sp>
      <p:sp>
        <p:nvSpPr>
          <p:cNvPr id="11" name="Shape 8"/>
          <p:cNvSpPr/>
          <p:nvPr/>
        </p:nvSpPr>
        <p:spPr>
          <a:xfrm>
            <a:off x="3352716" y="2670870"/>
            <a:ext cx="2590735" cy="3283347"/>
          </a:xfrm>
          <a:prstGeom prst="roundRect">
            <a:avLst>
              <a:gd name="adj" fmla="val 4706"/>
            </a:avLst>
          </a:prstGeom>
          <a:solidFill>
            <a:srgbClr val="F7FAF4"/>
          </a:solidFill>
          <a:ln/>
        </p:spPr>
      </p:sp>
      <p:sp>
        <p:nvSpPr>
          <p:cNvPr id="12" name="Text 9"/>
          <p:cNvSpPr/>
          <p:nvPr/>
        </p:nvSpPr>
        <p:spPr>
          <a:xfrm>
            <a:off x="3555911" y="2874070"/>
            <a:ext cx="886200" cy="228600"/>
          </a:xfrm>
          <a:prstGeom prst="rect">
            <a:avLst/>
          </a:prstGeom>
          <a:noFill/>
          <a:ln/>
        </p:spPr>
        <p:txBody>
          <a:bodyPr wrap="none" lIns="0" tIns="0" rIns="0" bIns="0" rtlCol="0" anchor="t"/>
          <a:lstStyle/>
          <a:p>
            <a:pPr marL="0" indent="0" algn="l">
              <a:lnSpc>
                <a:spcPct val="83000"/>
              </a:lnSpc>
              <a:buNone/>
            </a:pPr>
            <a:r>
              <a:rPr lang="en-US" sz="1800" dirty="0">
                <a:solidFill>
                  <a:srgbClr val="000000"/>
                </a:solidFill>
                <a:latin typeface="Schibsted Grotesk SemiBold" pitchFamily="34" charset="0"/>
                <a:ea typeface="Schibsted Grotesk SemiBold" pitchFamily="34" charset="-122"/>
                <a:cs typeface="Schibsted Grotesk SemiBold" pitchFamily="34" charset="-120"/>
              </a:rPr>
              <a:t>02</a:t>
            </a:r>
            <a:endParaRPr lang="en-US" sz="1800" dirty="0"/>
          </a:p>
        </p:txBody>
      </p:sp>
      <p:sp>
        <p:nvSpPr>
          <p:cNvPr id="13" name="Shape 10"/>
          <p:cNvSpPr/>
          <p:nvPr/>
        </p:nvSpPr>
        <p:spPr>
          <a:xfrm>
            <a:off x="3352716" y="3194149"/>
            <a:ext cx="2590735" cy="19050"/>
          </a:xfrm>
          <a:prstGeom prst="rect">
            <a:avLst/>
          </a:prstGeom>
          <a:solidFill>
            <a:srgbClr val="C5E35A"/>
          </a:solidFill>
          <a:ln/>
        </p:spPr>
      </p:sp>
      <p:sp>
        <p:nvSpPr>
          <p:cNvPr id="14" name="Text 11"/>
          <p:cNvSpPr/>
          <p:nvPr/>
        </p:nvSpPr>
        <p:spPr>
          <a:xfrm>
            <a:off x="3555911" y="3358257"/>
            <a:ext cx="2184345"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000000"/>
                </a:solidFill>
                <a:latin typeface="Schibsted Grotesk Medium" pitchFamily="34" charset="0"/>
                <a:ea typeface="Schibsted Grotesk Medium" pitchFamily="34" charset="-122"/>
                <a:cs typeface="Schibsted Grotesk Medium" pitchFamily="34" charset="-120"/>
              </a:rPr>
              <a:t>02 · Preprocess</a:t>
            </a:r>
            <a:endParaRPr lang="en-US" sz="2000" dirty="0"/>
          </a:p>
        </p:txBody>
      </p:sp>
      <p:sp>
        <p:nvSpPr>
          <p:cNvPr id="15" name="Text 12"/>
          <p:cNvSpPr/>
          <p:nvPr/>
        </p:nvSpPr>
        <p:spPr>
          <a:xfrm>
            <a:off x="3555911" y="4158595"/>
            <a:ext cx="2184345" cy="1597422"/>
          </a:xfrm>
          <a:prstGeom prst="rect">
            <a:avLst/>
          </a:prstGeom>
          <a:noFill/>
          <a:ln/>
        </p:spPr>
        <p:txBody>
          <a:bodyPr wrap="square" lIns="0" tIns="0" rIns="0" bIns="0" rtlCol="0" anchor="t">
            <a:normAutofit/>
          </a:bodyPr>
          <a:lstStyle/>
          <a:p>
            <a:pPr marL="0" indent="0" algn="l">
              <a:lnSpc>
                <a:spcPct val="112000"/>
              </a:lnSpc>
              <a:buNone/>
            </a:pPr>
            <a:r>
              <a:rPr lang="en-US" sz="1550" dirty="0">
                <a:solidFill>
                  <a:srgbClr val="000000"/>
                </a:solidFill>
                <a:latin typeface="Schibsted Grotesk" pitchFamily="34" charset="0"/>
                <a:ea typeface="Schibsted Grotesk" pitchFamily="34" charset="-122"/>
                <a:cs typeface="Schibsted Grotesk" pitchFamily="34" charset="-120"/>
              </a:rPr>
              <a:t>Inside one Pipeline: drop features &gt;50% missing (</a:t>
            </a:r>
            <a:r>
              <a:rPr lang="en-US" sz="1450" i="1" dirty="0">
                <a:solidFill>
                  <a:srgbClr val="000000"/>
                </a:solidFill>
                <a:latin typeface="Consolas" pitchFamily="34" charset="0"/>
                <a:ea typeface="Consolas" pitchFamily="34" charset="-122"/>
                <a:cs typeface="Consolas" pitchFamily="34" charset="-120"/>
              </a:rPr>
              <a:t>f14</a:t>
            </a:r>
            <a:r>
              <a:rPr lang="en-US" sz="1550" dirty="0">
                <a:solidFill>
                  <a:srgbClr val="000000"/>
                </a:solidFill>
                <a:latin typeface="Schibsted Grotesk" pitchFamily="34" charset="0"/>
                <a:ea typeface="Schibsted Grotesk" pitchFamily="34" charset="-122"/>
                <a:cs typeface="Schibsted Grotesk" pitchFamily="34" charset="-120"/>
              </a:rPr>
              <a:t>) and median-impute the rest, learned from training rows only.</a:t>
            </a:r>
            <a:endParaRPr lang="en-US" sz="1550" dirty="0"/>
          </a:p>
        </p:txBody>
      </p:sp>
      <p:sp>
        <p:nvSpPr>
          <p:cNvPr id="17" name="Shape 13"/>
          <p:cNvSpPr/>
          <p:nvPr/>
        </p:nvSpPr>
        <p:spPr>
          <a:xfrm>
            <a:off x="6248244" y="2670870"/>
            <a:ext cx="2590735" cy="3283347"/>
          </a:xfrm>
          <a:prstGeom prst="roundRect">
            <a:avLst>
              <a:gd name="adj" fmla="val 4706"/>
            </a:avLst>
          </a:prstGeom>
          <a:solidFill>
            <a:srgbClr val="F7FAF4"/>
          </a:solidFill>
          <a:ln/>
        </p:spPr>
      </p:sp>
      <p:sp>
        <p:nvSpPr>
          <p:cNvPr id="18" name="Text 14"/>
          <p:cNvSpPr/>
          <p:nvPr/>
        </p:nvSpPr>
        <p:spPr>
          <a:xfrm>
            <a:off x="6451439" y="2874070"/>
            <a:ext cx="888482" cy="228600"/>
          </a:xfrm>
          <a:prstGeom prst="rect">
            <a:avLst/>
          </a:prstGeom>
          <a:noFill/>
          <a:ln/>
        </p:spPr>
        <p:txBody>
          <a:bodyPr wrap="none" lIns="0" tIns="0" rIns="0" bIns="0" rtlCol="0" anchor="t"/>
          <a:lstStyle/>
          <a:p>
            <a:pPr marL="0" indent="0" algn="l">
              <a:lnSpc>
                <a:spcPct val="83000"/>
              </a:lnSpc>
              <a:buNone/>
            </a:pPr>
            <a:r>
              <a:rPr lang="en-US" sz="1800" dirty="0">
                <a:solidFill>
                  <a:srgbClr val="000000"/>
                </a:solidFill>
                <a:latin typeface="Schibsted Grotesk SemiBold" pitchFamily="34" charset="0"/>
                <a:ea typeface="Schibsted Grotesk SemiBold" pitchFamily="34" charset="-122"/>
                <a:cs typeface="Schibsted Grotesk SemiBold" pitchFamily="34" charset="-120"/>
              </a:rPr>
              <a:t>03</a:t>
            </a:r>
            <a:endParaRPr lang="en-US" sz="1800" dirty="0"/>
          </a:p>
        </p:txBody>
      </p:sp>
      <p:sp>
        <p:nvSpPr>
          <p:cNvPr id="19" name="Shape 15"/>
          <p:cNvSpPr/>
          <p:nvPr/>
        </p:nvSpPr>
        <p:spPr>
          <a:xfrm>
            <a:off x="6248244" y="3194149"/>
            <a:ext cx="2590735" cy="19050"/>
          </a:xfrm>
          <a:prstGeom prst="rect">
            <a:avLst/>
          </a:prstGeom>
          <a:solidFill>
            <a:srgbClr val="C5E35A"/>
          </a:solidFill>
          <a:ln/>
        </p:spPr>
      </p:sp>
      <p:sp>
        <p:nvSpPr>
          <p:cNvPr id="20" name="Text 16"/>
          <p:cNvSpPr/>
          <p:nvPr/>
        </p:nvSpPr>
        <p:spPr>
          <a:xfrm>
            <a:off x="6451439" y="3358257"/>
            <a:ext cx="2184345"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000000"/>
                </a:solidFill>
                <a:latin typeface="Schibsted Grotesk Medium" pitchFamily="34" charset="0"/>
                <a:ea typeface="Schibsted Grotesk Medium" pitchFamily="34" charset="-122"/>
                <a:cs typeface="Schibsted Grotesk Medium" pitchFamily="34" charset="-120"/>
              </a:rPr>
              <a:t>03 · Two models</a:t>
            </a:r>
            <a:endParaRPr lang="en-US" sz="2000" dirty="0"/>
          </a:p>
        </p:txBody>
      </p:sp>
      <p:sp>
        <p:nvSpPr>
          <p:cNvPr id="21" name="Text 17"/>
          <p:cNvSpPr/>
          <p:nvPr/>
        </p:nvSpPr>
        <p:spPr>
          <a:xfrm>
            <a:off x="6451439" y="4158595"/>
            <a:ext cx="2184345" cy="1597422"/>
          </a:xfrm>
          <a:prstGeom prst="rect">
            <a:avLst/>
          </a:prstGeom>
          <a:noFill/>
          <a:ln/>
        </p:spPr>
        <p:txBody>
          <a:bodyPr wrap="square" lIns="0" tIns="0" rIns="0" bIns="0" rtlCol="0" anchor="t">
            <a:normAutofit/>
          </a:bodyPr>
          <a:lstStyle/>
          <a:p>
            <a:pPr marL="0" indent="0" algn="l">
              <a:lnSpc>
                <a:spcPct val="112000"/>
              </a:lnSpc>
              <a:buNone/>
            </a:pPr>
            <a:r>
              <a:rPr lang="en-US" sz="1550" dirty="0">
                <a:solidFill>
                  <a:srgbClr val="000000"/>
                </a:solidFill>
                <a:latin typeface="Schibsted Grotesk" pitchFamily="34" charset="0"/>
                <a:ea typeface="Schibsted Grotesk" pitchFamily="34" charset="-122"/>
                <a:cs typeface="Schibsted Grotesk" pitchFamily="34" charset="-120"/>
              </a:rPr>
              <a:t>CART: 5-fold CV grid over criterion, depth, leaf size and pruning (</a:t>
            </a:r>
            <a:r>
              <a:rPr lang="en-US" sz="1450" i="1" dirty="0">
                <a:solidFill>
                  <a:srgbClr val="000000"/>
                </a:solidFill>
                <a:latin typeface="Consolas" pitchFamily="34" charset="0"/>
                <a:ea typeface="Consolas" pitchFamily="34" charset="-122"/>
                <a:cs typeface="Consolas" pitchFamily="34" charset="-120"/>
              </a:rPr>
              <a:t>ccp_alpha</a:t>
            </a:r>
            <a:r>
              <a:rPr lang="en-US" sz="1550" dirty="0">
                <a:solidFill>
                  <a:srgbClr val="000000"/>
                </a:solidFill>
                <a:latin typeface="Schibsted Grotesk" pitchFamily="34" charset="0"/>
                <a:ea typeface="Schibsted Grotesk" pitchFamily="34" charset="-122"/>
                <a:cs typeface="Schibsted Grotesk" pitchFamily="34" charset="-120"/>
              </a:rPr>
              <a:t>). Random Forest: 300 trees.</a:t>
            </a:r>
            <a:endParaRPr lang="en-US" sz="1550" dirty="0"/>
          </a:p>
        </p:txBody>
      </p:sp>
      <p:sp>
        <p:nvSpPr>
          <p:cNvPr id="23" name="Shape 18"/>
          <p:cNvSpPr/>
          <p:nvPr/>
        </p:nvSpPr>
        <p:spPr>
          <a:xfrm>
            <a:off x="9143771" y="2670870"/>
            <a:ext cx="2590735" cy="3283347"/>
          </a:xfrm>
          <a:prstGeom prst="roundRect">
            <a:avLst>
              <a:gd name="adj" fmla="val 4706"/>
            </a:avLst>
          </a:prstGeom>
          <a:solidFill>
            <a:srgbClr val="F7FAF4"/>
          </a:solidFill>
          <a:ln/>
        </p:spPr>
      </p:sp>
      <p:sp>
        <p:nvSpPr>
          <p:cNvPr id="24" name="Text 19"/>
          <p:cNvSpPr/>
          <p:nvPr/>
        </p:nvSpPr>
        <p:spPr>
          <a:xfrm>
            <a:off x="9346966" y="2874070"/>
            <a:ext cx="892450" cy="228600"/>
          </a:xfrm>
          <a:prstGeom prst="rect">
            <a:avLst/>
          </a:prstGeom>
          <a:noFill/>
          <a:ln/>
        </p:spPr>
        <p:txBody>
          <a:bodyPr wrap="none" lIns="0" tIns="0" rIns="0" bIns="0" rtlCol="0" anchor="t"/>
          <a:lstStyle/>
          <a:p>
            <a:pPr marL="0" indent="0" algn="l">
              <a:lnSpc>
                <a:spcPct val="83000"/>
              </a:lnSpc>
              <a:buNone/>
            </a:pPr>
            <a:r>
              <a:rPr lang="en-US" sz="1800" dirty="0">
                <a:solidFill>
                  <a:srgbClr val="000000"/>
                </a:solidFill>
                <a:latin typeface="Schibsted Grotesk SemiBold" pitchFamily="34" charset="0"/>
                <a:ea typeface="Schibsted Grotesk SemiBold" pitchFamily="34" charset="-122"/>
                <a:cs typeface="Schibsted Grotesk SemiBold" pitchFamily="34" charset="-120"/>
              </a:rPr>
              <a:t>04</a:t>
            </a:r>
            <a:endParaRPr lang="en-US" sz="1800" dirty="0"/>
          </a:p>
        </p:txBody>
      </p:sp>
      <p:sp>
        <p:nvSpPr>
          <p:cNvPr id="25" name="Shape 20"/>
          <p:cNvSpPr/>
          <p:nvPr/>
        </p:nvSpPr>
        <p:spPr>
          <a:xfrm>
            <a:off x="9143771" y="3194149"/>
            <a:ext cx="2590735" cy="19050"/>
          </a:xfrm>
          <a:prstGeom prst="rect">
            <a:avLst/>
          </a:prstGeom>
          <a:solidFill>
            <a:srgbClr val="C5E35A"/>
          </a:solidFill>
          <a:ln/>
        </p:spPr>
      </p:sp>
      <p:sp>
        <p:nvSpPr>
          <p:cNvPr id="26" name="Text 21"/>
          <p:cNvSpPr/>
          <p:nvPr/>
        </p:nvSpPr>
        <p:spPr>
          <a:xfrm>
            <a:off x="9346966" y="3358257"/>
            <a:ext cx="2184345"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000000"/>
                </a:solidFill>
                <a:latin typeface="Schibsted Grotesk Medium" pitchFamily="34" charset="0"/>
                <a:ea typeface="Schibsted Grotesk Medium" pitchFamily="34" charset="-122"/>
                <a:cs typeface="Schibsted Grotesk Medium" pitchFamily="34" charset="-120"/>
              </a:rPr>
              <a:t>04 · Final evaluation</a:t>
            </a:r>
            <a:endParaRPr lang="en-US" sz="2000" dirty="0"/>
          </a:p>
        </p:txBody>
      </p:sp>
      <p:sp>
        <p:nvSpPr>
          <p:cNvPr id="27" name="Text 22"/>
          <p:cNvSpPr/>
          <p:nvPr/>
        </p:nvSpPr>
        <p:spPr>
          <a:xfrm>
            <a:off x="9346966" y="4158595"/>
            <a:ext cx="2184345" cy="1594247"/>
          </a:xfrm>
          <a:prstGeom prst="rect">
            <a:avLst/>
          </a:prstGeom>
          <a:noFill/>
          <a:ln/>
        </p:spPr>
        <p:txBody>
          <a:bodyPr wrap="square" lIns="0" tIns="0" rIns="0" bIns="0" rtlCol="0" anchor="t">
            <a:normAutofit/>
          </a:bodyPr>
          <a:lstStyle/>
          <a:p>
            <a:pPr marL="0" indent="0" algn="l">
              <a:lnSpc>
                <a:spcPct val="112000"/>
              </a:lnSpc>
              <a:buNone/>
            </a:pPr>
            <a:r>
              <a:rPr lang="en-US" sz="1550" dirty="0">
                <a:solidFill>
                  <a:srgbClr val="000000"/>
                </a:solidFill>
                <a:latin typeface="Schibsted Grotesk" pitchFamily="34" charset="0"/>
                <a:ea typeface="Schibsted Grotesk" pitchFamily="34" charset="-122"/>
                <a:cs typeface="Schibsted Grotesk" pitchFamily="34" charset="-120"/>
              </a:rPr>
              <a:t>Score both models once on the 136 held-out test patients, and by 10-fold CV (3 repeats) on all 452 rows.</a:t>
            </a:r>
            <a:endParaRPr lang="en-US" sz="1550" dirty="0"/>
          </a:p>
        </p:txBody>
      </p:sp>
      <p:sp>
        <p:nvSpPr>
          <p:cNvPr id="28" name="Text 23"/>
          <p:cNvSpPr/>
          <p:nvPr/>
        </p:nvSpPr>
        <p:spPr>
          <a:xfrm>
            <a:off x="11791357" y="6526510"/>
            <a:ext cx="400338" cy="205680"/>
          </a:xfrm>
          <a:prstGeom prst="rect">
            <a:avLst/>
          </a:prstGeom>
          <a:noFill/>
          <a:ln/>
        </p:spPr>
        <p:txBody>
          <a:bodyPr wrap="none" lIns="0" tIns="0" rIns="0" bIns="0" rtlCol="0" anchor="ctr"/>
          <a:lstStyle/>
          <a:p>
            <a:pPr marL="0" indent="0" algn="l">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279400"/>
            <a:ext cx="6556112" cy="214610"/>
          </a:xfrm>
          <a:prstGeom prst="rect">
            <a:avLst/>
          </a:prstGeom>
          <a:noFill/>
          <a:ln/>
        </p:spPr>
        <p:txBody>
          <a:bodyPr wrap="none" lIns="0" tIns="0" rIns="0" bIns="0" rtlCol="0" anchor="t"/>
          <a:lstStyle/>
          <a:p>
            <a:pPr marL="0" indent="0" algn="l">
              <a:lnSpc>
                <a:spcPct val="108000"/>
              </a:lnSpc>
              <a:buNone/>
            </a:pPr>
            <a:r>
              <a:rPr lang="en-US" sz="1300" kern="100" spc="13" dirty="0">
                <a:solidFill>
                  <a:srgbClr val="C5E35A"/>
                </a:solidFill>
                <a:latin typeface="Fira Mono Medium" pitchFamily="34" charset="0"/>
                <a:ea typeface="Fira Mono Medium" pitchFamily="34" charset="-122"/>
                <a:cs typeface="Fira Mono Medium" pitchFamily="34" charset="-120"/>
              </a:rPr>
              <a:t>SPLITTING RULE &amp; REGULARIZATION</a:t>
            </a:r>
            <a:endParaRPr lang="en-US" sz="1300" dirty="0"/>
          </a:p>
        </p:txBody>
      </p:sp>
      <p:sp>
        <p:nvSpPr>
          <p:cNvPr id="3" name="Text 1"/>
          <p:cNvSpPr/>
          <p:nvPr/>
        </p:nvSpPr>
        <p:spPr>
          <a:xfrm>
            <a:off x="457189" y="608879"/>
            <a:ext cx="6378316" cy="853281"/>
          </a:xfrm>
          <a:prstGeom prst="rect">
            <a:avLst/>
          </a:prstGeom>
          <a:noFill/>
          <a:ln/>
        </p:spPr>
        <p:txBody>
          <a:bodyPr wrap="square" lIns="0" tIns="0" rIns="0" bIns="0" rtlCol="0" anchor="t">
            <a:normAutofit/>
          </a:bodyPr>
          <a:lstStyle/>
          <a:p>
            <a:pPr marL="0" indent="0" algn="l">
              <a:lnSpc>
                <a:spcPct val="87000"/>
              </a:lnSpc>
              <a:buNone/>
            </a:pPr>
            <a:r>
              <a:rPr lang="en-US" sz="3200" kern="100" spc="-48" dirty="0">
                <a:solidFill>
                  <a:srgbClr val="FFFFFF"/>
                </a:solidFill>
                <a:latin typeface="Schibsted Grotesk ExtraBold" pitchFamily="34" charset="0"/>
                <a:ea typeface="Schibsted Grotesk ExtraBold" pitchFamily="34" charset="-122"/>
                <a:cs typeface="Schibsted Grotesk ExtraBold" pitchFamily="34" charset="-120"/>
              </a:rPr>
              <a:t>CART, pruning and Random Forest</a:t>
            </a:r>
            <a:endParaRPr lang="en-US" sz="3200" dirty="0"/>
          </a:p>
        </p:txBody>
      </p:sp>
      <p:sp>
        <p:nvSpPr>
          <p:cNvPr id="4" name="Shape 2"/>
          <p:cNvSpPr/>
          <p:nvPr/>
        </p:nvSpPr>
        <p:spPr>
          <a:xfrm>
            <a:off x="457189" y="1679079"/>
            <a:ext cx="1594405" cy="50701"/>
          </a:xfrm>
          <a:prstGeom prst="roundRect">
            <a:avLst>
              <a:gd name="adj" fmla="val 49999"/>
            </a:avLst>
          </a:prstGeom>
          <a:solidFill>
            <a:srgbClr val="C5E35A"/>
          </a:solidFill>
          <a:ln/>
        </p:spPr>
      </p:sp>
      <p:sp>
        <p:nvSpPr>
          <p:cNvPr id="5" name="Text 3"/>
          <p:cNvSpPr/>
          <p:nvPr/>
        </p:nvSpPr>
        <p:spPr>
          <a:xfrm>
            <a:off x="457189" y="1970861"/>
            <a:ext cx="6378316" cy="2510334"/>
          </a:xfrm>
          <a:prstGeom prst="rect">
            <a:avLst/>
          </a:prstGeom>
          <a:noFill/>
          <a:ln/>
        </p:spPr>
        <p:txBody>
          <a:bodyPr wrap="square" lIns="0" tIns="0" rIns="0" bIns="0" rtlCol="0" anchor="t">
            <a:normAutofit/>
          </a:bodyPr>
          <a:lstStyle/>
          <a:p>
            <a:pPr marL="0" indent="0" algn="l">
              <a:lnSpc>
                <a:spcPct val="113000"/>
              </a:lnSpc>
              <a:buNone/>
            </a:pPr>
            <a:endParaRPr lang="en-US" sz="1600" dirty="0"/>
          </a:p>
        </p:txBody>
      </p:sp>
      <p:sp>
        <p:nvSpPr>
          <p:cNvPr id="12" name="Text 4"/>
          <p:cNvSpPr/>
          <p:nvPr/>
        </p:nvSpPr>
        <p:spPr>
          <a:xfrm>
            <a:off x="457189" y="4651375"/>
            <a:ext cx="6378316" cy="1155402"/>
          </a:xfrm>
          <a:prstGeom prst="rect">
            <a:avLst/>
          </a:prstGeom>
          <a:noFill/>
          <a:ln/>
        </p:spPr>
        <p:txBody>
          <a:bodyPr wrap="square" lIns="0" tIns="0" rIns="0" bIns="0" rtlCol="0" anchor="t">
            <a:normAutofit/>
          </a:bodyPr>
          <a:lstStyle/>
          <a:p>
            <a:pPr marL="0" indent="0" algn="l">
              <a:lnSpc>
                <a:spcPct val="108000"/>
              </a:lnSpc>
              <a:buNone/>
            </a:pPr>
            <a:endParaRPr lang="en-US" sz="1400" dirty="0"/>
          </a:p>
        </p:txBody>
      </p:sp>
      <p:sp>
        <p:nvSpPr>
          <p:cNvPr id="13" name="Shape 5"/>
          <p:cNvSpPr/>
          <p:nvPr/>
        </p:nvSpPr>
        <p:spPr>
          <a:xfrm>
            <a:off x="9069855" y="279400"/>
            <a:ext cx="2664651" cy="338435"/>
          </a:xfrm>
          <a:prstGeom prst="roundRect">
            <a:avLst>
              <a:gd name="adj" fmla="val 49999"/>
            </a:avLst>
          </a:prstGeom>
          <a:noFill/>
          <a:ln w="6350">
            <a:solidFill>
              <a:srgbClr val="C5E35A"/>
            </a:solidFill>
            <a:prstDash val="solid"/>
          </a:ln>
        </p:spPr>
      </p:sp>
      <p:sp>
        <p:nvSpPr>
          <p:cNvPr id="14" name="Text 6"/>
          <p:cNvSpPr/>
          <p:nvPr/>
        </p:nvSpPr>
        <p:spPr>
          <a:xfrm>
            <a:off x="9193677" y="341313"/>
            <a:ext cx="2998018" cy="214610"/>
          </a:xfrm>
          <a:prstGeom prst="rect">
            <a:avLst/>
          </a:prstGeom>
          <a:noFill/>
          <a:ln/>
        </p:spPr>
        <p:txBody>
          <a:bodyPr wrap="none" lIns="0" tIns="0" rIns="0" bIns="0" rtlCol="0" anchor="t"/>
          <a:lstStyle/>
          <a:p>
            <a:pPr marL="0" indent="0" algn="l">
              <a:lnSpc>
                <a:spcPct val="108000"/>
              </a:lnSpc>
              <a:buNone/>
            </a:pPr>
            <a:r>
              <a:rPr lang="en-US" sz="1300" kern="100" spc="13" dirty="0">
                <a:solidFill>
                  <a:srgbClr val="FFFFFF"/>
                </a:solidFill>
                <a:latin typeface="Fira Mono Medium" pitchFamily="34" charset="0"/>
                <a:ea typeface="Fira Mono Medium" pitchFamily="34" charset="-122"/>
                <a:cs typeface="Fira Mono Medium" pitchFamily="34" charset="-120"/>
              </a:rPr>
              <a:t>Pruning grid · 5-fold CV</a:t>
            </a:r>
            <a:endParaRPr lang="en-US" sz="1300" dirty="0"/>
          </a:p>
        </p:txBody>
      </p:sp>
      <p:pic>
        <p:nvPicPr>
          <p:cNvPr id="15" name="Image 6" descr="preencoded.png"/>
          <p:cNvPicPr>
            <a:picLocks noChangeAspect="1"/>
          </p:cNvPicPr>
          <p:nvPr/>
        </p:nvPicPr>
        <p:blipFill>
          <a:blip r:embed="rId3"/>
          <a:srcRect/>
          <a:stretch>
            <a:fillRect/>
          </a:stretch>
        </p:blipFill>
        <p:spPr>
          <a:xfrm>
            <a:off x="7117114" y="1225351"/>
            <a:ext cx="4153125" cy="4014688"/>
          </a:xfrm>
          <a:prstGeom prst="rect">
            <a:avLst/>
          </a:prstGeom>
        </p:spPr>
      </p:pic>
      <p:sp>
        <p:nvSpPr>
          <p:cNvPr id="16" name="Text 7"/>
          <p:cNvSpPr/>
          <p:nvPr/>
        </p:nvSpPr>
        <p:spPr>
          <a:xfrm>
            <a:off x="7178396" y="5456435"/>
            <a:ext cx="4162519" cy="700683"/>
          </a:xfrm>
          <a:prstGeom prst="rect">
            <a:avLst/>
          </a:prstGeom>
          <a:noFill/>
          <a:ln/>
        </p:spPr>
        <p:txBody>
          <a:bodyPr wrap="square" lIns="0" tIns="0" rIns="0" bIns="0" rtlCol="0" anchor="t">
            <a:normAutofit/>
          </a:bodyPr>
          <a:lstStyle/>
          <a:p>
            <a:pPr marL="0" indent="0" algn="l">
              <a:lnSpc>
                <a:spcPct val="108000"/>
              </a:lnSpc>
              <a:buNone/>
            </a:pPr>
            <a:r>
              <a:rPr lang="en-US" sz="1400" kern="100" spc="14" dirty="0">
                <a:solidFill>
                  <a:srgbClr val="A8C4B7"/>
                </a:solidFill>
                <a:latin typeface="Fira Mono Medium" pitchFamily="34" charset="0"/>
                <a:ea typeface="Fira Mono Medium" pitchFamily="34" charset="-122"/>
                <a:cs typeface="Fira Mono Medium" pitchFamily="34" charset="-120"/>
              </a:rPr>
              <a:t>Chosen </a:t>
            </a:r>
            <a:r>
              <a:rPr lang="en-US" sz="1350" i="1" kern="100" spc="14" dirty="0">
                <a:solidFill>
                  <a:srgbClr val="A8C4B7"/>
                </a:solidFill>
                <a:latin typeface="Consolas" pitchFamily="34" charset="0"/>
                <a:ea typeface="Consolas" pitchFamily="34" charset="-122"/>
                <a:cs typeface="Consolas" pitchFamily="34" charset="-120"/>
              </a:rPr>
              <a:t>ccp_alpha = 0.02</a:t>
            </a:r>
            <a:r>
              <a:rPr lang="en-US" sz="1400" kern="100" spc="14" dirty="0">
                <a:solidFill>
                  <a:srgbClr val="A8C4B7"/>
                </a:solidFill>
                <a:latin typeface="Fira Mono Medium" pitchFamily="34" charset="0"/>
                <a:ea typeface="Fira Mono Medium" pitchFamily="34" charset="-122"/>
                <a:cs typeface="Fira Mono Medium" pitchFamily="34" charset="-120"/>
              </a:rPr>
              <a:t> gave the best training-CV accuracy (0.684) and cut the tree from 21 to 8 leaves.</a:t>
            </a:r>
            <a:endParaRPr lang="en-US" sz="1400" dirty="0"/>
          </a:p>
        </p:txBody>
      </p:sp>
      <p:sp>
        <p:nvSpPr>
          <p:cNvPr id="18" name="Text 8"/>
          <p:cNvSpPr/>
          <p:nvPr/>
        </p:nvSpPr>
        <p:spPr>
          <a:xfrm>
            <a:off x="11789075" y="6526510"/>
            <a:ext cx="402620" cy="205680"/>
          </a:xfrm>
          <a:prstGeom prst="rect">
            <a:avLst/>
          </a:prstGeom>
          <a:noFill/>
          <a:ln/>
        </p:spPr>
        <p:txBody>
          <a:bodyPr wrap="none" lIns="0" tIns="0" rIns="0" bIns="0" rtlCol="0" anchor="ctr"/>
          <a:lstStyle/>
          <a:p>
            <a:pPr marL="0" indent="0" algn="l">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120"/>
              </a:rPr>
              <a:t>05</a:t>
            </a:r>
            <a:endParaRPr lang="en-US" sz="1200" dirty="0"/>
          </a:p>
        </p:txBody>
      </p:sp>
      <p:sp>
        <p:nvSpPr>
          <p:cNvPr id="21" name="TextBox 20">
            <a:extLst>
              <a:ext uri="{FF2B5EF4-FFF2-40B4-BE49-F238E27FC236}">
                <a16:creationId xmlns:a16="http://schemas.microsoft.com/office/drawing/2014/main" id="{9CDA0C95-2E3C-F98B-26C9-2F3179CE61E7}"/>
              </a:ext>
            </a:extLst>
          </p:cNvPr>
          <p:cNvSpPr txBox="1"/>
          <p:nvPr/>
        </p:nvSpPr>
        <p:spPr>
          <a:xfrm>
            <a:off x="390221" y="2080726"/>
            <a:ext cx="6378316" cy="3139321"/>
          </a:xfrm>
          <a:prstGeom prst="rect">
            <a:avLst/>
          </a:prstGeom>
          <a:noFill/>
        </p:spPr>
        <p:txBody>
          <a:bodyPr wrap="square" rtlCol="0">
            <a:spAutoFit/>
          </a:bodyPr>
          <a:lstStyle/>
          <a:p>
            <a:pPr>
              <a:buNone/>
            </a:pPr>
            <a:r>
              <a:rPr lang="en-IN" b="1" dirty="0">
                <a:solidFill>
                  <a:srgbClr val="E3EEE7"/>
                </a:solidFill>
                <a:latin typeface="Schibsted Grotesk Bold" pitchFamily="34" charset="0"/>
                <a:cs typeface="Schibsted Grotesk Bold" pitchFamily="34" charset="-120"/>
              </a:rPr>
              <a:t>Greedy binary splits: </a:t>
            </a:r>
            <a:r>
              <a:rPr lang="en-IN" dirty="0">
                <a:solidFill>
                  <a:srgbClr val="E3EEE7"/>
                </a:solidFill>
                <a:latin typeface="Schibsted Grotesk" pitchFamily="34" charset="0"/>
                <a:cs typeface="Schibsted Grotesk" pitchFamily="34" charset="-120"/>
              </a:rPr>
              <a:t>CART splits each node on the feature/threshold that most reduces Gini impurity, G = 1 − Σ pₖ² (0 for a pure node). Fully grown trees memorise noise, so the pruning strength ccp_alpha is part of the CV grid {0, 0.005, 0.01, 0.02}; the winner (gini, depth 6, min leaf 3, ccp_alpha 0.02) has 8 leaves. Random Forest averages 300 trees built on bootstrap samples with random feature subsets: lower variance, less readable. scikit-learn ccp_alpha ≠ rpart cp, so the paper’s 0.0001 / 0.027 are not reused.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7987" y="1280914"/>
            <a:ext cx="11683708" cy="214610"/>
          </a:xfrm>
          <a:prstGeom prst="rect">
            <a:avLst/>
          </a:prstGeom>
          <a:noFill/>
          <a:ln/>
        </p:spPr>
        <p:txBody>
          <a:bodyPr wrap="none" lIns="0" tIns="0" rIns="0" bIns="0" rtlCol="0" anchor="t"/>
          <a:lstStyle/>
          <a:p>
            <a:pPr marL="0" indent="0" algn="l">
              <a:lnSpc>
                <a:spcPct val="108000"/>
              </a:lnSpc>
              <a:buNone/>
            </a:pPr>
            <a:r>
              <a:rPr lang="en-US" sz="1300" kern="100" spc="13" dirty="0">
                <a:solidFill>
                  <a:srgbClr val="C5E35A"/>
                </a:solidFill>
                <a:latin typeface="Fira Mono Medium" pitchFamily="34" charset="0"/>
                <a:ea typeface="Fira Mono Medium" pitchFamily="34" charset="-122"/>
                <a:cs typeface="Fira Mono Medium" pitchFamily="34" charset="-120"/>
              </a:rPr>
              <a:t>SOFTWARE ENGINEERING STANDARDS</a:t>
            </a:r>
            <a:endParaRPr lang="en-US" sz="1300" dirty="0"/>
          </a:p>
        </p:txBody>
      </p:sp>
      <p:sp>
        <p:nvSpPr>
          <p:cNvPr id="3" name="Text 1"/>
          <p:cNvSpPr/>
          <p:nvPr/>
        </p:nvSpPr>
        <p:spPr>
          <a:xfrm>
            <a:off x="507987" y="1613145"/>
            <a:ext cx="11226519" cy="480020"/>
          </a:xfrm>
          <a:prstGeom prst="rect">
            <a:avLst/>
          </a:prstGeom>
          <a:noFill/>
          <a:ln/>
        </p:spPr>
        <p:txBody>
          <a:bodyPr wrap="none" lIns="0" tIns="0" rIns="0" bIns="0" rtlCol="0" anchor="t"/>
          <a:lstStyle/>
          <a:p>
            <a:pPr marL="0" indent="0" algn="l">
              <a:lnSpc>
                <a:spcPct val="87000"/>
              </a:lnSpc>
              <a:buNone/>
            </a:pPr>
            <a:r>
              <a:rPr lang="en-US" sz="3600" kern="100" spc="-54" dirty="0">
                <a:solidFill>
                  <a:srgbClr val="FFFFFF"/>
                </a:solidFill>
                <a:latin typeface="Schibsted Grotesk ExtraBold" pitchFamily="34" charset="0"/>
                <a:ea typeface="Schibsted Grotesk ExtraBold" pitchFamily="34" charset="-122"/>
                <a:cs typeface="Schibsted Grotesk ExtraBold" pitchFamily="34" charset="-120"/>
              </a:rPr>
              <a:t>Minimal, reproducible Python project</a:t>
            </a:r>
            <a:endParaRPr lang="en-US" sz="3600" dirty="0"/>
          </a:p>
        </p:txBody>
      </p:sp>
      <p:sp>
        <p:nvSpPr>
          <p:cNvPr id="4" name="Shape 2"/>
          <p:cNvSpPr/>
          <p:nvPr/>
        </p:nvSpPr>
        <p:spPr>
          <a:xfrm>
            <a:off x="507987" y="2307332"/>
            <a:ext cx="2806630" cy="50701"/>
          </a:xfrm>
          <a:prstGeom prst="roundRect">
            <a:avLst>
              <a:gd name="adj" fmla="val 49999"/>
            </a:avLst>
          </a:prstGeom>
          <a:solidFill>
            <a:srgbClr val="C5E35A"/>
          </a:solidFill>
          <a:ln/>
        </p:spPr>
      </p:sp>
      <p:sp>
        <p:nvSpPr>
          <p:cNvPr id="5" name="Text 3"/>
          <p:cNvSpPr/>
          <p:nvPr/>
        </p:nvSpPr>
        <p:spPr>
          <a:xfrm>
            <a:off x="507987" y="2595305"/>
            <a:ext cx="11226519" cy="617141"/>
          </a:xfrm>
          <a:prstGeom prst="rect">
            <a:avLst/>
          </a:prstGeom>
          <a:noFill/>
          <a:ln/>
        </p:spPr>
        <p:txBody>
          <a:bodyPr wrap="square" lIns="0" tIns="0" rIns="0" bIns="0" rtlCol="0" anchor="t">
            <a:normAutofit/>
          </a:bodyPr>
          <a:lstStyle/>
          <a:p>
            <a:pPr marL="0" indent="0" algn="l">
              <a:lnSpc>
                <a:spcPct val="113000"/>
              </a:lnSpc>
              <a:buNone/>
            </a:pPr>
            <a:r>
              <a:rPr lang="en-US" sz="1800" b="1" dirty="0">
                <a:solidFill>
                  <a:srgbClr val="E3EEE7"/>
                </a:solidFill>
                <a:latin typeface="Schibsted Grotesk Bold" pitchFamily="34" charset="0"/>
                <a:ea typeface="Schibsted Grotesk Bold" pitchFamily="34" charset="-122"/>
                <a:cs typeface="Schibsted Grotesk Bold" pitchFamily="34" charset="-120"/>
              </a:rPr>
              <a:t>Stack:</a:t>
            </a:r>
            <a:r>
              <a:rPr lang="en-US" sz="1800" dirty="0">
                <a:solidFill>
                  <a:srgbClr val="E3EEE7"/>
                </a:solidFill>
                <a:latin typeface="Schibsted Grotesk" pitchFamily="34" charset="0"/>
                <a:ea typeface="Schibsted Grotesk" pitchFamily="34" charset="-122"/>
                <a:cs typeface="Schibsted Grotesk" pitchFamily="34" charset="-120"/>
              </a:rPr>
              <a:t> Python 3, pandas, scikit-learn, Matplotlib. One script (main.py), an executed notebook (ECG_CART_Analysis.ipynb), a README and requirements.txt.</a:t>
            </a:r>
            <a:endParaRPr lang="en-US" sz="1800" dirty="0"/>
          </a:p>
        </p:txBody>
      </p:sp>
      <p:sp>
        <p:nvSpPr>
          <p:cNvPr id="6" name="Text 4"/>
          <p:cNvSpPr/>
          <p:nvPr/>
        </p:nvSpPr>
        <p:spPr>
          <a:xfrm>
            <a:off x="507987" y="3825815"/>
            <a:ext cx="11226519" cy="627360"/>
          </a:xfrm>
          <a:prstGeom prst="rect">
            <a:avLst/>
          </a:prstGeom>
          <a:noFill/>
          <a:ln/>
        </p:spPr>
        <p:txBody>
          <a:bodyPr wrap="square" lIns="0" tIns="0" rIns="0" bIns="0" rtlCol="0" anchor="t">
            <a:normAutofit/>
          </a:bodyPr>
          <a:lstStyle/>
          <a:p>
            <a:pPr marL="0" indent="0" algn="l">
              <a:lnSpc>
                <a:spcPct val="113000"/>
              </a:lnSpc>
              <a:buNone/>
            </a:pPr>
            <a:r>
              <a:rPr lang="en-US" sz="1800" b="1" dirty="0">
                <a:solidFill>
                  <a:srgbClr val="E3EEE7"/>
                </a:solidFill>
                <a:latin typeface="Schibsted Grotesk Bold" pitchFamily="34" charset="0"/>
                <a:ea typeface="Schibsted Grotesk Bold" pitchFamily="34" charset="-122"/>
                <a:cs typeface="Schibsted Grotesk Bold" pitchFamily="34" charset="-120"/>
              </a:rPr>
              <a:t>Run it:</a:t>
            </a:r>
            <a:r>
              <a:rPr lang="en-US" sz="1800" dirty="0">
                <a:solidFill>
                  <a:srgbClr val="E3EEE7"/>
                </a:solidFill>
                <a:latin typeface="Schibsted Grotesk" pitchFamily="34" charset="0"/>
                <a:ea typeface="Schibsted Grotesk" pitchFamily="34" charset="-122"/>
                <a:cs typeface="Schibsted Grotesk" pitchFamily="34" charset="-120"/>
              </a:rPr>
              <a:t> </a:t>
            </a:r>
            <a:r>
              <a:rPr lang="en-US" sz="1700" i="1" dirty="0">
                <a:solidFill>
                  <a:srgbClr val="E3EEE7"/>
                </a:solidFill>
                <a:latin typeface="Consolas" pitchFamily="34" charset="0"/>
                <a:ea typeface="Consolas" pitchFamily="34" charset="-122"/>
                <a:cs typeface="Consolas" pitchFamily="34" charset="-120"/>
              </a:rPr>
              <a:t>python main.py</a:t>
            </a:r>
            <a:r>
              <a:rPr lang="en-US" sz="1800" dirty="0">
                <a:solidFill>
                  <a:srgbClr val="E3EEE7"/>
                </a:solidFill>
                <a:latin typeface="Schibsted Grotesk" pitchFamily="34" charset="0"/>
                <a:ea typeface="Schibsted Grotesk" pitchFamily="34" charset="-122"/>
                <a:cs typeface="Schibsted Grotesk" pitchFamily="34" charset="-120"/>
              </a:rPr>
              <a:t>    loads the data, tunes CART, trains the Random Forest, evaluates both and saves results.txt plus three figures.</a:t>
            </a:r>
            <a:endParaRPr lang="en-US" sz="1800" dirty="0"/>
          </a:p>
        </p:txBody>
      </p:sp>
      <p:sp>
        <p:nvSpPr>
          <p:cNvPr id="8" name="Text 5"/>
          <p:cNvSpPr/>
          <p:nvPr/>
        </p:nvSpPr>
        <p:spPr>
          <a:xfrm>
            <a:off x="507987" y="4605576"/>
            <a:ext cx="11226519" cy="617141"/>
          </a:xfrm>
          <a:prstGeom prst="rect">
            <a:avLst/>
          </a:prstGeom>
          <a:noFill/>
          <a:ln/>
        </p:spPr>
        <p:txBody>
          <a:bodyPr wrap="square" lIns="0" tIns="0" rIns="0" bIns="0" rtlCol="0" anchor="t">
            <a:normAutofit/>
          </a:bodyPr>
          <a:lstStyle/>
          <a:p>
            <a:pPr marL="0" indent="0" algn="l">
              <a:lnSpc>
                <a:spcPct val="113000"/>
              </a:lnSpc>
              <a:buNone/>
            </a:pPr>
            <a:r>
              <a:rPr lang="en-US" sz="1800" b="1" dirty="0">
                <a:solidFill>
                  <a:srgbClr val="E3EEE7"/>
                </a:solidFill>
                <a:latin typeface="Schibsted Grotesk Bold" pitchFamily="34" charset="0"/>
                <a:ea typeface="Schibsted Grotesk Bold" pitchFamily="34" charset="-122"/>
                <a:cs typeface="Schibsted Grotesk Bold" pitchFamily="34" charset="-120"/>
              </a:rPr>
              <a:t>Leak-free by design:</a:t>
            </a:r>
            <a:r>
              <a:rPr lang="en-US" sz="1800" dirty="0">
                <a:solidFill>
                  <a:srgbClr val="E3EEE7"/>
                </a:solidFill>
                <a:latin typeface="Schibsted Grotesk" pitchFamily="34" charset="0"/>
                <a:ea typeface="Schibsted Grotesk" pitchFamily="34" charset="-122"/>
                <a:cs typeface="Schibsted Grotesk" pitchFamily="34" charset="-120"/>
              </a:rPr>
              <a:t> Dropping and imputation sit inside a scikit-learn Pipeline, so they are re-learned on training rows only, including inside every CV fold.</a:t>
            </a:r>
            <a:endParaRPr lang="en-US" sz="1800" dirty="0"/>
          </a:p>
        </p:txBody>
      </p:sp>
      <p:sp>
        <p:nvSpPr>
          <p:cNvPr id="9" name="Text 6"/>
          <p:cNvSpPr/>
          <p:nvPr/>
        </p:nvSpPr>
        <p:spPr>
          <a:xfrm>
            <a:off x="507987" y="5345906"/>
            <a:ext cx="11683708" cy="231080"/>
          </a:xfrm>
          <a:prstGeom prst="rect">
            <a:avLst/>
          </a:prstGeom>
          <a:noFill/>
          <a:ln/>
        </p:spPr>
        <p:txBody>
          <a:bodyPr wrap="none" lIns="0" tIns="0" rIns="0" bIns="0" rtlCol="0" anchor="t"/>
          <a:lstStyle/>
          <a:p>
            <a:pPr marL="0" indent="0" algn="l">
              <a:lnSpc>
                <a:spcPct val="108000"/>
              </a:lnSpc>
              <a:buNone/>
            </a:pPr>
            <a:endParaRPr lang="en-US" sz="1400" dirty="0"/>
          </a:p>
        </p:txBody>
      </p:sp>
      <p:sp>
        <p:nvSpPr>
          <p:cNvPr id="10" name="Text 7"/>
          <p:cNvSpPr/>
          <p:nvPr/>
        </p:nvSpPr>
        <p:spPr>
          <a:xfrm>
            <a:off x="11786595" y="6526510"/>
            <a:ext cx="405100" cy="205680"/>
          </a:xfrm>
          <a:prstGeom prst="rect">
            <a:avLst/>
          </a:prstGeom>
          <a:noFill/>
          <a:ln/>
        </p:spPr>
        <p:txBody>
          <a:bodyPr wrap="none" lIns="0" tIns="0" rIns="0" bIns="0" rtlCol="0" anchor="ctr"/>
          <a:lstStyle/>
          <a:p>
            <a:pPr marL="0" indent="0" algn="l">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208538"/>
            <a:ext cx="11734506" cy="207268"/>
          </a:xfrm>
          <a:prstGeom prst="rect">
            <a:avLst/>
          </a:prstGeom>
          <a:noFill/>
          <a:ln/>
        </p:spPr>
        <p:txBody>
          <a:bodyPr wrap="none" lIns="0" tIns="0" rIns="0" bIns="0" rtlCol="0" anchor="t"/>
          <a:lstStyle/>
          <a:p>
            <a:pPr marL="0" indent="0" algn="l">
              <a:lnSpc>
                <a:spcPct val="108000"/>
              </a:lnSpc>
              <a:buNone/>
            </a:pPr>
            <a:r>
              <a:rPr lang="en-US" sz="1250" kern="100" spc="13" dirty="0">
                <a:solidFill>
                  <a:srgbClr val="C5E35A"/>
                </a:solidFill>
                <a:latin typeface="Fira Mono Medium" pitchFamily="34" charset="0"/>
                <a:ea typeface="Fira Mono Medium" pitchFamily="34" charset="-122"/>
                <a:cs typeface="Fira Mono Medium" pitchFamily="34" charset="-120"/>
              </a:rPr>
              <a:t>HELD-OUT EVALUATION (N = 136)</a:t>
            </a:r>
            <a:endParaRPr lang="en-US" sz="1250" dirty="0"/>
          </a:p>
        </p:txBody>
      </p:sp>
      <p:sp>
        <p:nvSpPr>
          <p:cNvPr id="3" name="Text 1"/>
          <p:cNvSpPr/>
          <p:nvPr/>
        </p:nvSpPr>
        <p:spPr>
          <a:xfrm>
            <a:off x="457189" y="521304"/>
            <a:ext cx="11277318" cy="463550"/>
          </a:xfrm>
          <a:prstGeom prst="rect">
            <a:avLst/>
          </a:prstGeom>
          <a:noFill/>
          <a:ln/>
        </p:spPr>
        <p:txBody>
          <a:bodyPr wrap="none" lIns="0" tIns="0" rIns="0" bIns="0" rtlCol="0" anchor="t"/>
          <a:lstStyle/>
          <a:p>
            <a:pPr marL="0" indent="0" algn="l">
              <a:lnSpc>
                <a:spcPct val="87000"/>
              </a:lnSpc>
              <a:buNone/>
            </a:pPr>
            <a:r>
              <a:rPr lang="en-US" sz="3500" kern="100" spc="-52" dirty="0">
                <a:solidFill>
                  <a:srgbClr val="FFFFFF"/>
                </a:solidFill>
                <a:latin typeface="Schibsted Grotesk ExtraBold" pitchFamily="34" charset="0"/>
                <a:ea typeface="Schibsted Grotesk ExtraBold" pitchFamily="34" charset="-122"/>
                <a:cs typeface="Schibsted Grotesk ExtraBold" pitchFamily="34" charset="-120"/>
              </a:rPr>
              <a:t>Random Forest beats CART; rare classes still fail</a:t>
            </a:r>
            <a:endParaRPr lang="en-US" sz="3500" dirty="0"/>
          </a:p>
        </p:txBody>
      </p:sp>
      <p:sp>
        <p:nvSpPr>
          <p:cNvPr id="4" name="Shape 2"/>
          <p:cNvSpPr/>
          <p:nvPr/>
        </p:nvSpPr>
        <p:spPr>
          <a:xfrm>
            <a:off x="457189" y="1186557"/>
            <a:ext cx="2819329" cy="38100"/>
          </a:xfrm>
          <a:prstGeom prst="roundRect">
            <a:avLst>
              <a:gd name="adj" fmla="val 49999"/>
            </a:avLst>
          </a:prstGeom>
          <a:solidFill>
            <a:srgbClr val="C5E35A"/>
          </a:solidFill>
          <a:ln/>
        </p:spPr>
      </p:sp>
      <p:sp>
        <p:nvSpPr>
          <p:cNvPr id="5" name="Shape 3"/>
          <p:cNvSpPr/>
          <p:nvPr/>
        </p:nvSpPr>
        <p:spPr>
          <a:xfrm>
            <a:off x="380991" y="1605557"/>
            <a:ext cx="2793930" cy="1612900"/>
          </a:xfrm>
          <a:prstGeom prst="roundRect">
            <a:avLst>
              <a:gd name="adj" fmla="val 7559"/>
            </a:avLst>
          </a:prstGeom>
          <a:solidFill>
            <a:srgbClr val="F7FAF4"/>
          </a:solidFill>
          <a:ln/>
        </p:spPr>
      </p:sp>
      <p:sp>
        <p:nvSpPr>
          <p:cNvPr id="6" name="Text 4"/>
          <p:cNvSpPr/>
          <p:nvPr/>
        </p:nvSpPr>
        <p:spPr>
          <a:xfrm>
            <a:off x="461901" y="1959083"/>
            <a:ext cx="2666933" cy="207268"/>
          </a:xfrm>
          <a:prstGeom prst="rect">
            <a:avLst/>
          </a:prstGeom>
          <a:noFill/>
          <a:ln/>
        </p:spPr>
        <p:txBody>
          <a:bodyPr wrap="none" lIns="0" tIns="0" rIns="0" bIns="0" rtlCol="0" anchor="t"/>
          <a:lstStyle/>
          <a:p>
            <a:pPr marL="0" indent="0" algn="l">
              <a:lnSpc>
                <a:spcPct val="108000"/>
              </a:lnSpc>
              <a:buNone/>
            </a:pPr>
            <a:r>
              <a:rPr lang="en-US" sz="1250" kern="100" spc="13" dirty="0">
                <a:solidFill>
                  <a:srgbClr val="000000"/>
                </a:solidFill>
                <a:latin typeface="Fira Mono Medium" pitchFamily="34" charset="0"/>
                <a:ea typeface="Fira Mono Medium" pitchFamily="34" charset="-122"/>
                <a:cs typeface="Fira Mono Medium" pitchFamily="34" charset="-120"/>
              </a:rPr>
              <a:t>FOREST · TEST ACCURACY</a:t>
            </a:r>
            <a:endParaRPr lang="en-US" sz="1250" dirty="0"/>
          </a:p>
        </p:txBody>
      </p:sp>
      <p:sp>
        <p:nvSpPr>
          <p:cNvPr id="7" name="Text 5"/>
          <p:cNvSpPr/>
          <p:nvPr/>
        </p:nvSpPr>
        <p:spPr>
          <a:xfrm>
            <a:off x="525400" y="2308182"/>
            <a:ext cx="2539936" cy="466030"/>
          </a:xfrm>
          <a:prstGeom prst="rect">
            <a:avLst/>
          </a:prstGeom>
          <a:noFill/>
          <a:ln/>
        </p:spPr>
        <p:txBody>
          <a:bodyPr wrap="none" lIns="0" tIns="0" rIns="0" bIns="0" rtlCol="0" anchor="t"/>
          <a:lstStyle/>
          <a:p>
            <a:pPr marL="0" indent="0" algn="l">
              <a:lnSpc>
                <a:spcPct val="83000"/>
              </a:lnSpc>
              <a:buNone/>
            </a:pPr>
            <a:r>
              <a:rPr lang="en-US" sz="3650" b="1" kern="100" spc="-73" dirty="0">
                <a:solidFill>
                  <a:srgbClr val="0F3B2E"/>
                </a:solidFill>
                <a:latin typeface="Fira Mono Bold" pitchFamily="34" charset="0"/>
                <a:ea typeface="Fira Mono Bold" pitchFamily="34" charset="-122"/>
                <a:cs typeface="Fira Mono Bold" pitchFamily="34" charset="-120"/>
              </a:rPr>
              <a:t>0.728</a:t>
            </a:r>
            <a:endParaRPr lang="en-US" sz="3650" dirty="0"/>
          </a:p>
        </p:txBody>
      </p:sp>
      <p:sp>
        <p:nvSpPr>
          <p:cNvPr id="8" name="Shape 6"/>
          <p:cNvSpPr/>
          <p:nvPr/>
        </p:nvSpPr>
        <p:spPr>
          <a:xfrm>
            <a:off x="3273243" y="1605557"/>
            <a:ext cx="2793930" cy="1612900"/>
          </a:xfrm>
          <a:prstGeom prst="roundRect">
            <a:avLst>
              <a:gd name="adj" fmla="val 7559"/>
            </a:avLst>
          </a:prstGeom>
          <a:solidFill>
            <a:srgbClr val="F7FAF4"/>
          </a:solidFill>
          <a:ln/>
        </p:spPr>
      </p:sp>
      <p:sp>
        <p:nvSpPr>
          <p:cNvPr id="9" name="Text 7"/>
          <p:cNvSpPr/>
          <p:nvPr/>
        </p:nvSpPr>
        <p:spPr>
          <a:xfrm>
            <a:off x="3428915" y="1895122"/>
            <a:ext cx="2666933" cy="207268"/>
          </a:xfrm>
          <a:prstGeom prst="rect">
            <a:avLst/>
          </a:prstGeom>
          <a:noFill/>
          <a:ln/>
        </p:spPr>
        <p:txBody>
          <a:bodyPr wrap="none" lIns="0" tIns="0" rIns="0" bIns="0" rtlCol="0" anchor="t"/>
          <a:lstStyle/>
          <a:p>
            <a:pPr marL="0" indent="0" algn="l">
              <a:lnSpc>
                <a:spcPct val="108000"/>
              </a:lnSpc>
              <a:buNone/>
            </a:pPr>
            <a:r>
              <a:rPr lang="en-US" sz="1250" kern="100" spc="13" dirty="0">
                <a:solidFill>
                  <a:srgbClr val="000000"/>
                </a:solidFill>
                <a:latin typeface="Fira Mono Medium" pitchFamily="34" charset="0"/>
                <a:ea typeface="Fira Mono Medium" pitchFamily="34" charset="-122"/>
                <a:cs typeface="Fira Mono Medium" pitchFamily="34" charset="-120"/>
              </a:rPr>
              <a:t>FOREST · BALANCED ACC.</a:t>
            </a:r>
            <a:endParaRPr lang="en-US" sz="1250" dirty="0"/>
          </a:p>
        </p:txBody>
      </p:sp>
      <p:sp>
        <p:nvSpPr>
          <p:cNvPr id="10" name="Text 8"/>
          <p:cNvSpPr/>
          <p:nvPr/>
        </p:nvSpPr>
        <p:spPr>
          <a:xfrm>
            <a:off x="3428915" y="2292732"/>
            <a:ext cx="2539936" cy="466030"/>
          </a:xfrm>
          <a:prstGeom prst="rect">
            <a:avLst/>
          </a:prstGeom>
          <a:noFill/>
          <a:ln/>
        </p:spPr>
        <p:txBody>
          <a:bodyPr wrap="none" lIns="0" tIns="0" rIns="0" bIns="0" rtlCol="0" anchor="t"/>
          <a:lstStyle/>
          <a:p>
            <a:pPr marL="0" indent="0" algn="l">
              <a:lnSpc>
                <a:spcPct val="83000"/>
              </a:lnSpc>
              <a:buNone/>
            </a:pPr>
            <a:r>
              <a:rPr lang="en-US" sz="3650" b="1" kern="100" spc="-73" dirty="0">
                <a:solidFill>
                  <a:srgbClr val="0F3B2E"/>
                </a:solidFill>
                <a:latin typeface="Fira Mono Bold" pitchFamily="34" charset="0"/>
                <a:ea typeface="Fira Mono Bold" pitchFamily="34" charset="-122"/>
                <a:cs typeface="Fira Mono Bold" pitchFamily="34" charset="-120"/>
              </a:rPr>
              <a:t>0.360</a:t>
            </a:r>
            <a:endParaRPr lang="en-US" sz="3650" dirty="0"/>
          </a:p>
        </p:txBody>
      </p:sp>
      <p:sp>
        <p:nvSpPr>
          <p:cNvPr id="11" name="Shape 9"/>
          <p:cNvSpPr/>
          <p:nvPr/>
        </p:nvSpPr>
        <p:spPr>
          <a:xfrm>
            <a:off x="398403" y="3315313"/>
            <a:ext cx="2793930" cy="1612900"/>
          </a:xfrm>
          <a:prstGeom prst="roundRect">
            <a:avLst>
              <a:gd name="adj" fmla="val 7559"/>
            </a:avLst>
          </a:prstGeom>
          <a:solidFill>
            <a:srgbClr val="F7FAF4"/>
          </a:solidFill>
          <a:ln/>
        </p:spPr>
      </p:sp>
      <p:sp>
        <p:nvSpPr>
          <p:cNvPr id="12" name="Text 10"/>
          <p:cNvSpPr/>
          <p:nvPr/>
        </p:nvSpPr>
        <p:spPr>
          <a:xfrm>
            <a:off x="550800" y="3428913"/>
            <a:ext cx="2666933" cy="207268"/>
          </a:xfrm>
          <a:prstGeom prst="rect">
            <a:avLst/>
          </a:prstGeom>
          <a:noFill/>
          <a:ln/>
        </p:spPr>
        <p:txBody>
          <a:bodyPr wrap="none" lIns="0" tIns="0" rIns="0" bIns="0" rtlCol="0" anchor="t"/>
          <a:lstStyle/>
          <a:p>
            <a:pPr marL="0" indent="0" algn="l">
              <a:lnSpc>
                <a:spcPct val="108000"/>
              </a:lnSpc>
              <a:buNone/>
            </a:pPr>
            <a:r>
              <a:rPr lang="en-US" sz="1250" kern="100" spc="13" dirty="0">
                <a:solidFill>
                  <a:srgbClr val="000000"/>
                </a:solidFill>
                <a:latin typeface="Fira Mono Medium" pitchFamily="34" charset="0"/>
                <a:ea typeface="Fira Mono Medium" pitchFamily="34" charset="-122"/>
                <a:cs typeface="Fira Mono Medium" pitchFamily="34" charset="-120"/>
              </a:rPr>
              <a:t>FOREST · MACRO F1</a:t>
            </a:r>
            <a:endParaRPr lang="en-US" sz="1250" dirty="0"/>
          </a:p>
        </p:txBody>
      </p:sp>
      <p:sp>
        <p:nvSpPr>
          <p:cNvPr id="13" name="Text 11"/>
          <p:cNvSpPr/>
          <p:nvPr/>
        </p:nvSpPr>
        <p:spPr>
          <a:xfrm>
            <a:off x="515973" y="3703047"/>
            <a:ext cx="2539936" cy="466030"/>
          </a:xfrm>
          <a:prstGeom prst="rect">
            <a:avLst/>
          </a:prstGeom>
          <a:noFill/>
          <a:ln/>
        </p:spPr>
        <p:txBody>
          <a:bodyPr wrap="none" lIns="0" tIns="0" rIns="0" bIns="0" rtlCol="0" anchor="t"/>
          <a:lstStyle/>
          <a:p>
            <a:pPr marL="0" indent="0" algn="l">
              <a:lnSpc>
                <a:spcPct val="83000"/>
              </a:lnSpc>
              <a:buNone/>
            </a:pPr>
            <a:r>
              <a:rPr lang="en-US" sz="3650" b="1" kern="100" spc="-73" dirty="0">
                <a:solidFill>
                  <a:srgbClr val="0F3B2E"/>
                </a:solidFill>
                <a:latin typeface="Fira Mono Bold" pitchFamily="34" charset="0"/>
                <a:ea typeface="Fira Mono Bold" pitchFamily="34" charset="-122"/>
                <a:cs typeface="Fira Mono Bold" pitchFamily="34" charset="-120"/>
              </a:rPr>
              <a:t>0.369</a:t>
            </a:r>
            <a:endParaRPr lang="en-US" sz="3650" dirty="0"/>
          </a:p>
        </p:txBody>
      </p:sp>
      <p:sp>
        <p:nvSpPr>
          <p:cNvPr id="14" name="Text 12"/>
          <p:cNvSpPr/>
          <p:nvPr/>
        </p:nvSpPr>
        <p:spPr>
          <a:xfrm>
            <a:off x="584185" y="4146068"/>
            <a:ext cx="2539936" cy="504428"/>
          </a:xfrm>
          <a:prstGeom prst="rect">
            <a:avLst/>
          </a:prstGeom>
          <a:noFill/>
          <a:ln/>
        </p:spPr>
        <p:txBody>
          <a:bodyPr wrap="square" lIns="0" tIns="0" rIns="0" bIns="0" rtlCol="0" anchor="t">
            <a:normAutofit/>
          </a:bodyPr>
          <a:lstStyle/>
          <a:p>
            <a:pPr marL="0" indent="0" algn="l">
              <a:lnSpc>
                <a:spcPct val="111000"/>
              </a:lnSpc>
              <a:buNone/>
            </a:pPr>
            <a:r>
              <a:rPr lang="en-US" sz="1500" dirty="0">
                <a:solidFill>
                  <a:srgbClr val="000000"/>
                </a:solidFill>
                <a:latin typeface="Schibsted Grotesk" pitchFamily="34" charset="0"/>
                <a:ea typeface="Schibsted Grotesk" pitchFamily="34" charset="-122"/>
                <a:cs typeface="Schibsted Grotesk" pitchFamily="34" charset="-120"/>
              </a:rPr>
              <a:t>10-fold CV accuracy: 0.739</a:t>
            </a:r>
            <a:endParaRPr lang="en-US" sz="1500" dirty="0"/>
          </a:p>
        </p:txBody>
      </p:sp>
      <p:sp>
        <p:nvSpPr>
          <p:cNvPr id="15" name="Shape 13"/>
          <p:cNvSpPr/>
          <p:nvPr/>
        </p:nvSpPr>
        <p:spPr>
          <a:xfrm>
            <a:off x="3276518" y="3323493"/>
            <a:ext cx="2793930" cy="1612900"/>
          </a:xfrm>
          <a:prstGeom prst="roundRect">
            <a:avLst>
              <a:gd name="adj" fmla="val 7559"/>
            </a:avLst>
          </a:prstGeom>
          <a:solidFill>
            <a:srgbClr val="F7FAF4"/>
          </a:solidFill>
          <a:ln/>
        </p:spPr>
      </p:sp>
      <p:sp>
        <p:nvSpPr>
          <p:cNvPr id="16" name="Text 14"/>
          <p:cNvSpPr/>
          <p:nvPr/>
        </p:nvSpPr>
        <p:spPr>
          <a:xfrm>
            <a:off x="3428915" y="3454138"/>
            <a:ext cx="2666933" cy="207268"/>
          </a:xfrm>
          <a:prstGeom prst="rect">
            <a:avLst/>
          </a:prstGeom>
          <a:noFill/>
          <a:ln/>
        </p:spPr>
        <p:txBody>
          <a:bodyPr wrap="none" lIns="0" tIns="0" rIns="0" bIns="0" rtlCol="0" anchor="t"/>
          <a:lstStyle/>
          <a:p>
            <a:pPr marL="0" indent="0" algn="l">
              <a:lnSpc>
                <a:spcPct val="108000"/>
              </a:lnSpc>
              <a:buNone/>
            </a:pPr>
            <a:r>
              <a:rPr lang="en-US" sz="1250" kern="100" spc="13" dirty="0">
                <a:solidFill>
                  <a:srgbClr val="000000"/>
                </a:solidFill>
                <a:latin typeface="Fira Mono Medium" pitchFamily="34" charset="0"/>
                <a:ea typeface="Fira Mono Medium" pitchFamily="34" charset="-122"/>
                <a:cs typeface="Fira Mono Medium" pitchFamily="34" charset="-120"/>
              </a:rPr>
              <a:t>CART (PRUNED) · ACCURACY</a:t>
            </a:r>
            <a:endParaRPr lang="en-US" sz="1250" dirty="0"/>
          </a:p>
        </p:txBody>
      </p:sp>
      <p:sp>
        <p:nvSpPr>
          <p:cNvPr id="17" name="Text 15"/>
          <p:cNvSpPr/>
          <p:nvPr/>
        </p:nvSpPr>
        <p:spPr>
          <a:xfrm>
            <a:off x="3492413" y="3764892"/>
            <a:ext cx="2539936" cy="466030"/>
          </a:xfrm>
          <a:prstGeom prst="rect">
            <a:avLst/>
          </a:prstGeom>
          <a:noFill/>
          <a:ln/>
        </p:spPr>
        <p:txBody>
          <a:bodyPr wrap="none" lIns="0" tIns="0" rIns="0" bIns="0" rtlCol="0" anchor="t"/>
          <a:lstStyle/>
          <a:p>
            <a:pPr marL="0" indent="0" algn="l">
              <a:lnSpc>
                <a:spcPct val="83000"/>
              </a:lnSpc>
              <a:buNone/>
            </a:pPr>
            <a:r>
              <a:rPr lang="en-US" sz="3650" b="1" kern="100" spc="-73" dirty="0">
                <a:solidFill>
                  <a:srgbClr val="0F3B2E"/>
                </a:solidFill>
                <a:latin typeface="Fira Mono Bold" pitchFamily="34" charset="0"/>
                <a:ea typeface="Fira Mono Bold" pitchFamily="34" charset="-122"/>
                <a:cs typeface="Fira Mono Bold" pitchFamily="34" charset="-120"/>
              </a:rPr>
              <a:t>0.632</a:t>
            </a:r>
            <a:endParaRPr lang="en-US" sz="3650" dirty="0"/>
          </a:p>
        </p:txBody>
      </p:sp>
      <p:sp>
        <p:nvSpPr>
          <p:cNvPr id="18" name="Text 16"/>
          <p:cNvSpPr/>
          <p:nvPr/>
        </p:nvSpPr>
        <p:spPr>
          <a:xfrm>
            <a:off x="492014" y="5166360"/>
            <a:ext cx="5740256" cy="1188720"/>
          </a:xfrm>
          <a:prstGeom prst="rect">
            <a:avLst/>
          </a:prstGeom>
          <a:noFill/>
          <a:ln/>
        </p:spPr>
        <p:txBody>
          <a:bodyPr wrap="square" lIns="0" tIns="0" rIns="0" bIns="0" rtlCol="0" anchor="t">
            <a:normAutofit/>
          </a:bodyPr>
          <a:lstStyle/>
          <a:p>
            <a:pPr marL="0" indent="0" algn="l">
              <a:lnSpc>
                <a:spcPct val="111000"/>
              </a:lnSpc>
              <a:buNone/>
            </a:pPr>
            <a:r>
              <a:rPr lang="en-US" sz="1500" b="1" dirty="0">
                <a:solidFill>
                  <a:srgbClr val="E3EEE7"/>
                </a:solidFill>
                <a:latin typeface="Schibsted Grotesk Bold" pitchFamily="34" charset="0"/>
                <a:ea typeface="Schibsted Grotesk Bold" pitchFamily="34" charset="-122"/>
                <a:cs typeface="Schibsted Grotesk Bold" pitchFamily="34" charset="-120"/>
              </a:rPr>
              <a:t>Rare-class dropoff:</a:t>
            </a:r>
            <a:r>
              <a:rPr lang="en-US" sz="1500" dirty="0">
                <a:solidFill>
                  <a:srgbClr val="E3EEE7"/>
                </a:solidFill>
                <a:latin typeface="Schibsted Grotesk" pitchFamily="34" charset="0"/>
                <a:ea typeface="Schibsted Grotesk" pitchFamily="34" charset="-122"/>
                <a:cs typeface="Schibsted Grotesk" pitchFamily="34" charset="-120"/>
              </a:rPr>
              <a:t> Classes 5, 7, 8, 14, 15 and 16 have zero recall (class 1: 0.97). CART: macro-F1 0.237, balanced 0.261, CV 0.669. The paper’s ~80% used another protocol – context only.</a:t>
            </a:r>
            <a:endParaRPr lang="en-US" sz="1500" dirty="0"/>
          </a:p>
        </p:txBody>
      </p:sp>
      <p:sp>
        <p:nvSpPr>
          <p:cNvPr id="19" name="Text 17"/>
          <p:cNvSpPr/>
          <p:nvPr/>
        </p:nvSpPr>
        <p:spPr>
          <a:xfrm>
            <a:off x="457189" y="5746415"/>
            <a:ext cx="5740256" cy="1115715"/>
          </a:xfrm>
          <a:prstGeom prst="rect">
            <a:avLst/>
          </a:prstGeom>
          <a:noFill/>
          <a:ln/>
        </p:spPr>
        <p:txBody>
          <a:bodyPr wrap="square" lIns="0" tIns="0" rIns="0" bIns="0" rtlCol="0" anchor="t">
            <a:normAutofit/>
          </a:bodyPr>
          <a:lstStyle/>
          <a:p>
            <a:pPr marL="0" indent="0" algn="l">
              <a:lnSpc>
                <a:spcPct val="108000"/>
              </a:lnSpc>
              <a:buNone/>
            </a:pPr>
            <a:endParaRPr lang="en-US" sz="1350" dirty="0"/>
          </a:p>
        </p:txBody>
      </p:sp>
      <p:sp>
        <p:nvSpPr>
          <p:cNvPr id="20" name="Shape 18"/>
          <p:cNvSpPr/>
          <p:nvPr/>
        </p:nvSpPr>
        <p:spPr>
          <a:xfrm>
            <a:off x="8870927" y="1278830"/>
            <a:ext cx="2863580" cy="326727"/>
          </a:xfrm>
          <a:prstGeom prst="roundRect">
            <a:avLst>
              <a:gd name="adj" fmla="val 49999"/>
            </a:avLst>
          </a:prstGeom>
          <a:noFill/>
          <a:ln w="6350">
            <a:solidFill>
              <a:srgbClr val="C5E35A"/>
            </a:solidFill>
            <a:prstDash val="solid"/>
          </a:ln>
        </p:spPr>
      </p:sp>
      <p:sp>
        <p:nvSpPr>
          <p:cNvPr id="21" name="Text 19"/>
          <p:cNvSpPr/>
          <p:nvPr/>
        </p:nvSpPr>
        <p:spPr>
          <a:xfrm>
            <a:off x="8990482" y="1343898"/>
            <a:ext cx="3201213" cy="207268"/>
          </a:xfrm>
          <a:prstGeom prst="rect">
            <a:avLst/>
          </a:prstGeom>
          <a:noFill/>
          <a:ln/>
        </p:spPr>
        <p:txBody>
          <a:bodyPr wrap="none" lIns="0" tIns="0" rIns="0" bIns="0" rtlCol="0" anchor="t"/>
          <a:lstStyle/>
          <a:p>
            <a:pPr marL="0" indent="0" algn="l">
              <a:lnSpc>
                <a:spcPct val="108000"/>
              </a:lnSpc>
              <a:buNone/>
            </a:pPr>
            <a:r>
              <a:rPr lang="en-US" sz="1250" kern="100" spc="13" dirty="0">
                <a:solidFill>
                  <a:srgbClr val="FFFFFF"/>
                </a:solidFill>
                <a:latin typeface="Fira Mono Medium" pitchFamily="34" charset="0"/>
                <a:ea typeface="Fira Mono Medium" pitchFamily="34" charset="-122"/>
                <a:cs typeface="Fira Mono Medium" pitchFamily="34" charset="-120"/>
              </a:rPr>
              <a:t>Random Forest · test set</a:t>
            </a:r>
            <a:endParaRPr lang="en-US" sz="1250" dirty="0"/>
          </a:p>
        </p:txBody>
      </p:sp>
      <p:pic>
        <p:nvPicPr>
          <p:cNvPr id="22" name="Image 0" descr="preencoded.png"/>
          <p:cNvPicPr>
            <a:picLocks noChangeAspect="1"/>
          </p:cNvPicPr>
          <p:nvPr/>
        </p:nvPicPr>
        <p:blipFill>
          <a:blip r:embed="rId3"/>
          <a:srcRect/>
          <a:stretch>
            <a:fillRect/>
          </a:stretch>
        </p:blipFill>
        <p:spPr>
          <a:xfrm>
            <a:off x="7029354" y="1671836"/>
            <a:ext cx="4330432" cy="4521200"/>
          </a:xfrm>
          <a:prstGeom prst="rect">
            <a:avLst/>
          </a:prstGeom>
        </p:spPr>
      </p:pic>
      <p:sp>
        <p:nvSpPr>
          <p:cNvPr id="23" name="Text 20"/>
          <p:cNvSpPr/>
          <p:nvPr/>
        </p:nvSpPr>
        <p:spPr>
          <a:xfrm>
            <a:off x="6654634" y="6260666"/>
            <a:ext cx="5079873" cy="446286"/>
          </a:xfrm>
          <a:prstGeom prst="rect">
            <a:avLst/>
          </a:prstGeom>
          <a:noFill/>
          <a:ln/>
        </p:spPr>
        <p:txBody>
          <a:bodyPr wrap="square" lIns="0" tIns="0" rIns="0" bIns="0" rtlCol="0" anchor="t">
            <a:normAutofit/>
          </a:bodyPr>
          <a:lstStyle/>
          <a:p>
            <a:pPr marL="0" indent="0" algn="l">
              <a:lnSpc>
                <a:spcPct val="108000"/>
              </a:lnSpc>
              <a:buNone/>
            </a:pPr>
            <a:r>
              <a:rPr lang="en-US" sz="1350" kern="100" spc="14" dirty="0">
                <a:solidFill>
                  <a:srgbClr val="A8C4B7"/>
                </a:solidFill>
                <a:latin typeface="Fira Mono Medium" pitchFamily="34" charset="0"/>
                <a:ea typeface="Fira Mono Medium" pitchFamily="34" charset="-122"/>
                <a:cs typeface="Fira Mono Medium" pitchFamily="34" charset="-120"/>
              </a:rPr>
              <a:t>72 of 74 class 1 cases correct; most rare classes are missed.</a:t>
            </a:r>
            <a:endParaRPr lang="en-US" sz="1350" dirty="0"/>
          </a:p>
        </p:txBody>
      </p:sp>
      <p:sp>
        <p:nvSpPr>
          <p:cNvPr id="24" name="Text 21"/>
          <p:cNvSpPr/>
          <p:nvPr/>
        </p:nvSpPr>
        <p:spPr>
          <a:xfrm>
            <a:off x="11804156" y="6526510"/>
            <a:ext cx="387539" cy="205680"/>
          </a:xfrm>
          <a:prstGeom prst="rect">
            <a:avLst/>
          </a:prstGeom>
          <a:noFill/>
          <a:ln/>
        </p:spPr>
        <p:txBody>
          <a:bodyPr wrap="none" lIns="0" tIns="0" rIns="0" bIns="0" rtlCol="0" anchor="ctr"/>
          <a:lstStyle/>
          <a:p>
            <a:pPr marL="0" indent="0" algn="l">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189" y="91200"/>
            <a:ext cx="5638659" cy="197941"/>
          </a:xfrm>
          <a:prstGeom prst="rect">
            <a:avLst/>
          </a:prstGeom>
          <a:noFill/>
          <a:ln/>
        </p:spPr>
        <p:txBody>
          <a:bodyPr wrap="none" lIns="0" tIns="0" rIns="0" bIns="0" rtlCol="0" anchor="t"/>
          <a:lstStyle/>
          <a:p>
            <a:pPr marL="0" indent="0" algn="l">
              <a:lnSpc>
                <a:spcPct val="108000"/>
              </a:lnSpc>
              <a:buNone/>
            </a:pPr>
            <a:r>
              <a:rPr lang="en-US" sz="1200" kern="100" spc="12" dirty="0">
                <a:solidFill>
                  <a:srgbClr val="C5E35A"/>
                </a:solidFill>
                <a:latin typeface="Fira Mono Medium" pitchFamily="34" charset="0"/>
                <a:ea typeface="Fira Mono Medium" pitchFamily="34" charset="-122"/>
                <a:cs typeface="Fira Mono Medium" pitchFamily="34" charset="-120"/>
              </a:rPr>
              <a:t>INSPECTION &amp; DECISION RULES</a:t>
            </a:r>
            <a:endParaRPr lang="en-US" sz="1200" dirty="0"/>
          </a:p>
        </p:txBody>
      </p:sp>
      <p:sp>
        <p:nvSpPr>
          <p:cNvPr id="3" name="Text 1"/>
          <p:cNvSpPr/>
          <p:nvPr/>
        </p:nvSpPr>
        <p:spPr>
          <a:xfrm>
            <a:off x="457189" y="387803"/>
            <a:ext cx="5384665" cy="1328142"/>
          </a:xfrm>
          <a:prstGeom prst="rect">
            <a:avLst/>
          </a:prstGeom>
          <a:noFill/>
          <a:ln/>
        </p:spPr>
        <p:txBody>
          <a:bodyPr wrap="square" lIns="0" tIns="0" rIns="0" bIns="0" rtlCol="0" anchor="t">
            <a:normAutofit/>
          </a:bodyPr>
          <a:lstStyle/>
          <a:p>
            <a:pPr marL="0" indent="0" algn="l">
              <a:lnSpc>
                <a:spcPct val="88000"/>
              </a:lnSpc>
              <a:buNone/>
            </a:pPr>
            <a:r>
              <a:rPr lang="en-US" sz="3300" kern="100" spc="-50" dirty="0">
                <a:solidFill>
                  <a:srgbClr val="FFFFFF"/>
                </a:solidFill>
                <a:latin typeface="Schibsted Grotesk ExtraBold" pitchFamily="34" charset="0"/>
                <a:ea typeface="Schibsted Grotesk ExtraBold" pitchFamily="34" charset="-122"/>
                <a:cs typeface="Schibsted Grotesk ExtraBold" pitchFamily="34" charset="-120"/>
              </a:rPr>
              <a:t>Feature importance reflects model rules, not clinical cause</a:t>
            </a:r>
            <a:endParaRPr lang="en-US" sz="3300" dirty="0"/>
          </a:p>
        </p:txBody>
      </p:sp>
      <p:sp>
        <p:nvSpPr>
          <p:cNvPr id="4" name="Shape 2"/>
          <p:cNvSpPr/>
          <p:nvPr/>
        </p:nvSpPr>
        <p:spPr>
          <a:xfrm>
            <a:off x="457189" y="1901924"/>
            <a:ext cx="1346067" cy="38100"/>
          </a:xfrm>
          <a:prstGeom prst="roundRect">
            <a:avLst>
              <a:gd name="adj" fmla="val 49999"/>
            </a:avLst>
          </a:prstGeom>
          <a:solidFill>
            <a:srgbClr val="C5E35A"/>
          </a:solidFill>
          <a:ln/>
        </p:spPr>
      </p:sp>
      <p:sp>
        <p:nvSpPr>
          <p:cNvPr id="5" name="Text 3"/>
          <p:cNvSpPr/>
          <p:nvPr/>
        </p:nvSpPr>
        <p:spPr>
          <a:xfrm>
            <a:off x="457189" y="2454308"/>
            <a:ext cx="5384665" cy="1117600"/>
          </a:xfrm>
          <a:prstGeom prst="rect">
            <a:avLst/>
          </a:prstGeom>
          <a:noFill/>
          <a:ln/>
        </p:spPr>
        <p:txBody>
          <a:bodyPr wrap="square" lIns="0" tIns="0" rIns="0" bIns="0" rtlCol="0" anchor="t">
            <a:normAutofit/>
          </a:bodyPr>
          <a:lstStyle/>
          <a:p>
            <a:pPr marL="0" indent="0" algn="l">
              <a:lnSpc>
                <a:spcPct val="108000"/>
              </a:lnSpc>
              <a:buNone/>
            </a:pPr>
            <a:r>
              <a:rPr lang="en-US" sz="1650" b="1" dirty="0">
                <a:solidFill>
                  <a:srgbClr val="E3EEE7"/>
                </a:solidFill>
                <a:latin typeface="Schibsted Grotesk Bold" pitchFamily="34" charset="0"/>
                <a:ea typeface="Schibsted Grotesk Bold" pitchFamily="34" charset="-122"/>
                <a:cs typeface="Schibsted Grotesk Bold" pitchFamily="34" charset="-120"/>
              </a:rPr>
              <a:t>Primary splitting feature:</a:t>
            </a:r>
            <a:r>
              <a:rPr lang="en-US" sz="1650" dirty="0">
                <a:solidFill>
                  <a:srgbClr val="E3EEE7"/>
                </a:solidFill>
                <a:latin typeface="Schibsted Grotesk" pitchFamily="34" charset="0"/>
                <a:ea typeface="Schibsted Grotesk" pitchFamily="34" charset="-122"/>
                <a:cs typeface="Schibsted Grotesk" pitchFamily="34" charset="-120"/>
              </a:rPr>
              <a:t> Random Forest ranks </a:t>
            </a:r>
            <a:r>
              <a:rPr lang="en-US" sz="1550" i="1" dirty="0">
                <a:solidFill>
                  <a:srgbClr val="E3EEE7"/>
                </a:solidFill>
                <a:latin typeface="Consolas" pitchFamily="34" charset="0"/>
                <a:ea typeface="Consolas" pitchFamily="34" charset="-122"/>
                <a:cs typeface="Consolas" pitchFamily="34" charset="-120"/>
              </a:rPr>
              <a:t>heart_rate</a:t>
            </a:r>
            <a:r>
              <a:rPr lang="en-US" sz="1650" dirty="0">
                <a:solidFill>
                  <a:srgbClr val="E3EEE7"/>
                </a:solidFill>
                <a:latin typeface="Schibsted Grotesk" pitchFamily="34" charset="0"/>
                <a:ea typeface="Schibsted Grotesk" pitchFamily="34" charset="-122"/>
                <a:cs typeface="Schibsted Grotesk" pitchFamily="34" charset="-120"/>
              </a:rPr>
              <a:t> (f15) first, then </a:t>
            </a:r>
            <a:r>
              <a:rPr lang="en-US" sz="1550" i="1" dirty="0">
                <a:solidFill>
                  <a:srgbClr val="E3EEE7"/>
                </a:solidFill>
                <a:latin typeface="Consolas" pitchFamily="34" charset="0"/>
                <a:ea typeface="Consolas" pitchFamily="34" charset="-122"/>
                <a:cs typeface="Consolas" pitchFamily="34" charset="-120"/>
              </a:rPr>
              <a:t>V1_qrsa</a:t>
            </a:r>
            <a:r>
              <a:rPr lang="en-US" sz="1650" dirty="0">
                <a:solidFill>
                  <a:srgbClr val="E3EEE7"/>
                </a:solidFill>
                <a:latin typeface="Schibsted Grotesk" pitchFamily="34" charset="0"/>
                <a:ea typeface="Schibsted Grotesk" pitchFamily="34" charset="-122"/>
                <a:cs typeface="Schibsted Grotesk" pitchFamily="34" charset="-120"/>
              </a:rPr>
              <a:t> and AVR_t_amp.</a:t>
            </a:r>
            <a:endParaRPr lang="en-US" sz="1650" dirty="0"/>
          </a:p>
        </p:txBody>
      </p:sp>
      <p:sp>
        <p:nvSpPr>
          <p:cNvPr id="8" name="Text 4"/>
          <p:cNvSpPr/>
          <p:nvPr/>
        </p:nvSpPr>
        <p:spPr>
          <a:xfrm>
            <a:off x="457189" y="3421718"/>
            <a:ext cx="5384665" cy="1105892"/>
          </a:xfrm>
          <a:prstGeom prst="rect">
            <a:avLst/>
          </a:prstGeom>
          <a:noFill/>
          <a:ln/>
        </p:spPr>
        <p:txBody>
          <a:bodyPr wrap="square" lIns="0" tIns="0" rIns="0" bIns="0" rtlCol="0" anchor="t">
            <a:normAutofit/>
          </a:bodyPr>
          <a:lstStyle/>
          <a:p>
            <a:pPr marL="0" indent="0" algn="l">
              <a:lnSpc>
                <a:spcPct val="108000"/>
              </a:lnSpc>
              <a:buNone/>
            </a:pPr>
            <a:r>
              <a:rPr lang="en-US" sz="1600" b="1" dirty="0">
                <a:solidFill>
                  <a:srgbClr val="E3EEE7"/>
                </a:solidFill>
                <a:latin typeface="Schibsted Grotesk Bold" pitchFamily="34" charset="0"/>
                <a:ea typeface="Schibsted Grotesk Bold" pitchFamily="34" charset="-122"/>
                <a:cs typeface="Schibsted Grotesk Bold" pitchFamily="34" charset="-120"/>
              </a:rPr>
              <a:t>Root node:</a:t>
            </a:r>
            <a:r>
              <a:rPr lang="en-US" sz="1600" dirty="0">
                <a:solidFill>
                  <a:srgbClr val="E3EEE7"/>
                </a:solidFill>
                <a:latin typeface="Schibsted Grotesk" pitchFamily="34" charset="0"/>
                <a:ea typeface="Schibsted Grotesk" pitchFamily="34" charset="-122"/>
                <a:cs typeface="Schibsted Grotesk" pitchFamily="34" charset="-120"/>
              </a:rPr>
              <a:t> The pruned CART splits first on </a:t>
            </a:r>
            <a:r>
              <a:rPr lang="en-US" sz="1400" i="1" dirty="0">
                <a:solidFill>
                  <a:srgbClr val="E3EEE7"/>
                </a:solidFill>
                <a:latin typeface="Consolas" pitchFamily="34" charset="0"/>
                <a:ea typeface="Consolas" pitchFamily="34" charset="-122"/>
                <a:cs typeface="Consolas" pitchFamily="34" charset="-120"/>
              </a:rPr>
              <a:t>V1_rprime_amp</a:t>
            </a:r>
            <a:r>
              <a:rPr lang="en-US" sz="1600" dirty="0">
                <a:solidFill>
                  <a:srgbClr val="E3EEE7"/>
                </a:solidFill>
                <a:latin typeface="Schibsted Grotesk" pitchFamily="34" charset="0"/>
                <a:ea typeface="Schibsted Grotesk" pitchFamily="34" charset="-122"/>
                <a:cs typeface="Schibsted Grotesk" pitchFamily="34" charset="-120"/>
              </a:rPr>
              <a:t> (R′ amplitude, lead V1); the paper’s tree rooted at heart rate (feature 15). Greedy roots depend on data handling and pruning.</a:t>
            </a:r>
            <a:endParaRPr lang="en-US" sz="1600" dirty="0"/>
          </a:p>
        </p:txBody>
      </p:sp>
      <p:sp>
        <p:nvSpPr>
          <p:cNvPr id="10" name="Text 5"/>
          <p:cNvSpPr/>
          <p:nvPr/>
        </p:nvSpPr>
        <p:spPr>
          <a:xfrm>
            <a:off x="457189" y="4680010"/>
            <a:ext cx="5384665" cy="547092"/>
          </a:xfrm>
          <a:prstGeom prst="rect">
            <a:avLst/>
          </a:prstGeom>
          <a:noFill/>
          <a:ln/>
        </p:spPr>
        <p:txBody>
          <a:bodyPr wrap="square" lIns="0" tIns="0" rIns="0" bIns="0" rtlCol="0" anchor="t">
            <a:normAutofit/>
          </a:bodyPr>
          <a:lstStyle/>
          <a:p>
            <a:pPr marL="0" indent="0" algn="l">
              <a:lnSpc>
                <a:spcPct val="108000"/>
              </a:lnSpc>
              <a:buNone/>
            </a:pPr>
            <a:r>
              <a:rPr lang="en-US" sz="1400" b="1" dirty="0">
                <a:solidFill>
                  <a:srgbClr val="E3EEE7"/>
                </a:solidFill>
                <a:latin typeface="Schibsted Grotesk Bold" pitchFamily="34" charset="0"/>
                <a:ea typeface="Schibsted Grotesk Bold" pitchFamily="34" charset="-122"/>
                <a:cs typeface="Schibsted Grotesk Bold" pitchFamily="34" charset="-120"/>
              </a:rPr>
              <a:t>Spread-out importance:</a:t>
            </a:r>
            <a:r>
              <a:rPr lang="en-US" sz="1400" dirty="0">
                <a:solidFill>
                  <a:srgbClr val="E3EEE7"/>
                </a:solidFill>
                <a:latin typeface="Schibsted Grotesk" pitchFamily="34" charset="0"/>
                <a:ea typeface="Schibsted Grotesk" pitchFamily="34" charset="-122"/>
                <a:cs typeface="Schibsted Grotesk" pitchFamily="34" charset="-120"/>
              </a:rPr>
              <a:t> The top feature holds only ~4% of the forest’s importance; no single measurement dominates.</a:t>
            </a:r>
            <a:endParaRPr lang="en-US" sz="1400" dirty="0"/>
          </a:p>
        </p:txBody>
      </p:sp>
      <p:sp>
        <p:nvSpPr>
          <p:cNvPr id="11" name="Text 6"/>
          <p:cNvSpPr/>
          <p:nvPr/>
        </p:nvSpPr>
        <p:spPr>
          <a:xfrm>
            <a:off x="457189" y="5379502"/>
            <a:ext cx="5384665" cy="820638"/>
          </a:xfrm>
          <a:prstGeom prst="rect">
            <a:avLst/>
          </a:prstGeom>
          <a:noFill/>
          <a:ln/>
        </p:spPr>
        <p:txBody>
          <a:bodyPr wrap="square" lIns="0" tIns="0" rIns="0" bIns="0" rtlCol="0" anchor="t">
            <a:normAutofit/>
          </a:bodyPr>
          <a:lstStyle/>
          <a:p>
            <a:pPr marL="0" indent="0" algn="l">
              <a:lnSpc>
                <a:spcPct val="108000"/>
              </a:lnSpc>
              <a:buNone/>
            </a:pPr>
            <a:r>
              <a:rPr lang="en-US" sz="1600" b="1" dirty="0">
                <a:solidFill>
                  <a:srgbClr val="E3EEE7"/>
                </a:solidFill>
                <a:latin typeface="Schibsted Grotesk Bold" pitchFamily="34" charset="0"/>
                <a:ea typeface="Schibsted Grotesk Bold" pitchFamily="34" charset="-122"/>
                <a:cs typeface="Schibsted Grotesk Bold" pitchFamily="34" charset="-120"/>
              </a:rPr>
              <a:t>Descriptive vs. causal:</a:t>
            </a:r>
            <a:r>
              <a:rPr lang="en-US" sz="1600" dirty="0">
                <a:solidFill>
                  <a:srgbClr val="E3EEE7"/>
                </a:solidFill>
                <a:latin typeface="Schibsted Grotesk" pitchFamily="34" charset="0"/>
                <a:ea typeface="Schibsted Grotesk" pitchFamily="34" charset="-122"/>
                <a:cs typeface="Schibsted Grotesk" pitchFamily="34" charset="-120"/>
              </a:rPr>
              <a:t> Gini importance reflects greedy impurity decrease across collinear features, not biological causation.</a:t>
            </a:r>
            <a:endParaRPr lang="en-US" sz="1600" dirty="0"/>
          </a:p>
        </p:txBody>
      </p:sp>
      <p:sp>
        <p:nvSpPr>
          <p:cNvPr id="12" name="Text 7"/>
          <p:cNvSpPr/>
          <p:nvPr/>
        </p:nvSpPr>
        <p:spPr>
          <a:xfrm>
            <a:off x="457189" y="6343551"/>
            <a:ext cx="5384665" cy="426244"/>
          </a:xfrm>
          <a:prstGeom prst="rect">
            <a:avLst/>
          </a:prstGeom>
          <a:noFill/>
          <a:ln/>
        </p:spPr>
        <p:txBody>
          <a:bodyPr wrap="square" lIns="0" tIns="0" rIns="0" bIns="0" rtlCol="0" anchor="t">
            <a:normAutofit/>
          </a:bodyPr>
          <a:lstStyle/>
          <a:p>
            <a:pPr marL="0" indent="0" algn="l">
              <a:lnSpc>
                <a:spcPct val="108000"/>
              </a:lnSpc>
              <a:buNone/>
            </a:pPr>
            <a:endParaRPr lang="en-US" sz="1300" dirty="0"/>
          </a:p>
        </p:txBody>
      </p:sp>
      <p:sp>
        <p:nvSpPr>
          <p:cNvPr id="13" name="Shape 8"/>
          <p:cNvSpPr/>
          <p:nvPr/>
        </p:nvSpPr>
        <p:spPr>
          <a:xfrm>
            <a:off x="9185045" y="1347291"/>
            <a:ext cx="2549461" cy="312043"/>
          </a:xfrm>
          <a:prstGeom prst="roundRect">
            <a:avLst>
              <a:gd name="adj" fmla="val 49999"/>
            </a:avLst>
          </a:prstGeom>
          <a:noFill/>
          <a:ln w="6350">
            <a:solidFill>
              <a:srgbClr val="C5E35A"/>
            </a:solidFill>
            <a:prstDash val="solid"/>
          </a:ln>
        </p:spPr>
      </p:sp>
      <p:sp>
        <p:nvSpPr>
          <p:cNvPr id="14" name="Text 9"/>
          <p:cNvSpPr/>
          <p:nvPr/>
        </p:nvSpPr>
        <p:spPr>
          <a:xfrm>
            <a:off x="9299243" y="1407238"/>
            <a:ext cx="2892452" cy="197941"/>
          </a:xfrm>
          <a:prstGeom prst="rect">
            <a:avLst/>
          </a:prstGeom>
          <a:noFill/>
          <a:ln/>
        </p:spPr>
        <p:txBody>
          <a:bodyPr wrap="none" lIns="0" tIns="0" rIns="0" bIns="0" rtlCol="0" anchor="t"/>
          <a:lstStyle/>
          <a:p>
            <a:pPr marL="0" indent="0" algn="l">
              <a:lnSpc>
                <a:spcPct val="108000"/>
              </a:lnSpc>
              <a:buNone/>
            </a:pPr>
            <a:r>
              <a:rPr lang="en-US" sz="1200" kern="100" spc="12" dirty="0">
                <a:solidFill>
                  <a:srgbClr val="FFFFFF"/>
                </a:solidFill>
                <a:latin typeface="Fira Mono Medium" pitchFamily="34" charset="0"/>
                <a:ea typeface="Fira Mono Medium" pitchFamily="34" charset="-122"/>
                <a:cs typeface="Fira Mono Medium" pitchFamily="34" charset="-120"/>
              </a:rPr>
              <a:t>Random Forest importance</a:t>
            </a:r>
            <a:endParaRPr lang="en-US" sz="1200" dirty="0"/>
          </a:p>
        </p:txBody>
      </p:sp>
      <p:pic>
        <p:nvPicPr>
          <p:cNvPr id="15" name="Image 3" descr="preencoded.png"/>
          <p:cNvPicPr>
            <a:picLocks noChangeAspect="1"/>
          </p:cNvPicPr>
          <p:nvPr/>
        </p:nvPicPr>
        <p:blipFill>
          <a:blip r:embed="rId3"/>
          <a:srcRect/>
          <a:stretch>
            <a:fillRect/>
          </a:stretch>
        </p:blipFill>
        <p:spPr>
          <a:xfrm>
            <a:off x="6875699" y="1691640"/>
            <a:ext cx="4225706" cy="3337560"/>
          </a:xfrm>
          <a:prstGeom prst="rect">
            <a:avLst/>
          </a:prstGeom>
        </p:spPr>
      </p:pic>
      <p:sp>
        <p:nvSpPr>
          <p:cNvPr id="16" name="Text 10"/>
          <p:cNvSpPr/>
          <p:nvPr/>
        </p:nvSpPr>
        <p:spPr>
          <a:xfrm>
            <a:off x="6248244" y="5084465"/>
            <a:ext cx="5486263" cy="426244"/>
          </a:xfrm>
          <a:prstGeom prst="rect">
            <a:avLst/>
          </a:prstGeom>
          <a:noFill/>
          <a:ln/>
        </p:spPr>
        <p:txBody>
          <a:bodyPr wrap="square" lIns="0" tIns="0" rIns="0" bIns="0" rtlCol="0" anchor="t">
            <a:normAutofit/>
          </a:bodyPr>
          <a:lstStyle/>
          <a:p>
            <a:pPr marL="0" indent="0" algn="l">
              <a:lnSpc>
                <a:spcPct val="108000"/>
              </a:lnSpc>
              <a:buNone/>
            </a:pPr>
            <a:r>
              <a:rPr lang="en-US" sz="1300" kern="100" spc="13" dirty="0">
                <a:solidFill>
                  <a:srgbClr val="A8C4B7"/>
                </a:solidFill>
                <a:latin typeface="Fira Mono Medium" pitchFamily="34" charset="0"/>
                <a:ea typeface="Fira Mono Medium" pitchFamily="34" charset="-122"/>
                <a:cs typeface="Fira Mono Medium" pitchFamily="34" charset="-120"/>
              </a:rPr>
              <a:t>Plot labels: f15 = heart_rate (0.042), f228 = V1_qrsa (0.030), f197 = AVR_t_amp (0.021).</a:t>
            </a:r>
            <a:endParaRPr lang="en-US" sz="1300" dirty="0"/>
          </a:p>
        </p:txBody>
      </p:sp>
      <p:sp>
        <p:nvSpPr>
          <p:cNvPr id="17" name="Text 11"/>
          <p:cNvSpPr/>
          <p:nvPr/>
        </p:nvSpPr>
        <p:spPr>
          <a:xfrm>
            <a:off x="11789075" y="6526510"/>
            <a:ext cx="402620" cy="205680"/>
          </a:xfrm>
          <a:prstGeom prst="rect">
            <a:avLst/>
          </a:prstGeom>
          <a:noFill/>
          <a:ln/>
        </p:spPr>
        <p:txBody>
          <a:bodyPr wrap="none" lIns="0" tIns="0" rIns="0" bIns="0" rtlCol="0" anchor="ctr"/>
          <a:lstStyle/>
          <a:p>
            <a:pPr marL="0" indent="0" algn="l">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189" y="960041"/>
            <a:ext cx="11531312" cy="214610"/>
          </a:xfrm>
          <a:prstGeom prst="rect">
            <a:avLst/>
          </a:prstGeom>
          <a:noFill/>
          <a:ln/>
        </p:spPr>
        <p:txBody>
          <a:bodyPr wrap="none" lIns="0" tIns="0" rIns="0" bIns="0" rtlCol="0" anchor="t"/>
          <a:lstStyle/>
          <a:p>
            <a:pPr marL="0" indent="0" algn="l">
              <a:lnSpc>
                <a:spcPct val="108000"/>
              </a:lnSpc>
              <a:buNone/>
            </a:pPr>
            <a:r>
              <a:rPr lang="en-US" sz="1300" kern="100" spc="13" dirty="0">
                <a:solidFill>
                  <a:srgbClr val="C5E35A"/>
                </a:solidFill>
                <a:latin typeface="Fira Mono Medium" pitchFamily="34" charset="0"/>
                <a:ea typeface="Fira Mono Medium" pitchFamily="34" charset="-122"/>
                <a:cs typeface="Fira Mono Medium" pitchFamily="34" charset="-120"/>
              </a:rPr>
              <a:t>CRITICAL APPRAISAL</a:t>
            </a:r>
            <a:endParaRPr lang="en-US" sz="1300" dirty="0"/>
          </a:p>
        </p:txBody>
      </p:sp>
      <p:sp>
        <p:nvSpPr>
          <p:cNvPr id="3" name="Text 1"/>
          <p:cNvSpPr/>
          <p:nvPr/>
        </p:nvSpPr>
        <p:spPr>
          <a:xfrm>
            <a:off x="457189" y="1292271"/>
            <a:ext cx="11226519" cy="480020"/>
          </a:xfrm>
          <a:prstGeom prst="rect">
            <a:avLst/>
          </a:prstGeom>
          <a:noFill/>
          <a:ln/>
        </p:spPr>
        <p:txBody>
          <a:bodyPr wrap="none" lIns="0" tIns="0" rIns="0" bIns="0" rtlCol="0" anchor="t"/>
          <a:lstStyle/>
          <a:p>
            <a:pPr marL="0" indent="0" algn="l">
              <a:lnSpc>
                <a:spcPct val="87000"/>
              </a:lnSpc>
              <a:buNone/>
            </a:pPr>
            <a:r>
              <a:rPr lang="en-US" sz="3600" kern="100" spc="-54" dirty="0">
                <a:solidFill>
                  <a:srgbClr val="FFFFFF"/>
                </a:solidFill>
                <a:latin typeface="Schibsted Grotesk ExtraBold" pitchFamily="34" charset="0"/>
                <a:ea typeface="Schibsted Grotesk ExtraBold" pitchFamily="34" charset="-122"/>
                <a:cs typeface="Schibsted Grotesk ExtraBold" pitchFamily="34" charset="-120"/>
              </a:rPr>
              <a:t>Limitations &amp; future work</a:t>
            </a:r>
            <a:endParaRPr lang="en-US" sz="3600" dirty="0"/>
          </a:p>
        </p:txBody>
      </p:sp>
      <p:sp>
        <p:nvSpPr>
          <p:cNvPr id="4" name="Shape 2"/>
          <p:cNvSpPr/>
          <p:nvPr/>
        </p:nvSpPr>
        <p:spPr>
          <a:xfrm>
            <a:off x="457189" y="1986459"/>
            <a:ext cx="2806630" cy="50701"/>
          </a:xfrm>
          <a:prstGeom prst="roundRect">
            <a:avLst>
              <a:gd name="adj" fmla="val 49999"/>
            </a:avLst>
          </a:prstGeom>
          <a:solidFill>
            <a:srgbClr val="C5E35A"/>
          </a:solidFill>
          <a:ln/>
        </p:spPr>
      </p:sp>
      <p:sp>
        <p:nvSpPr>
          <p:cNvPr id="5" name="Shape 3"/>
          <p:cNvSpPr/>
          <p:nvPr/>
        </p:nvSpPr>
        <p:spPr>
          <a:xfrm>
            <a:off x="457189" y="2270621"/>
            <a:ext cx="5460863" cy="2832497"/>
          </a:xfrm>
          <a:prstGeom prst="roundRect">
            <a:avLst>
              <a:gd name="adj" fmla="val 4304"/>
            </a:avLst>
          </a:prstGeom>
          <a:solidFill>
            <a:srgbClr val="F7FAF4"/>
          </a:solidFill>
          <a:ln/>
        </p:spPr>
      </p:sp>
      <p:sp>
        <p:nvSpPr>
          <p:cNvPr id="6" name="Text 4"/>
          <p:cNvSpPr/>
          <p:nvPr/>
        </p:nvSpPr>
        <p:spPr>
          <a:xfrm>
            <a:off x="660383" y="2481759"/>
            <a:ext cx="5054474" cy="330200"/>
          </a:xfrm>
          <a:prstGeom prst="rect">
            <a:avLst/>
          </a:prstGeom>
          <a:noFill/>
          <a:ln/>
        </p:spPr>
        <p:txBody>
          <a:bodyPr wrap="none" lIns="0" tIns="0" rIns="0" bIns="0" rtlCol="0" anchor="t"/>
          <a:lstStyle/>
          <a:p>
            <a:pPr marL="0" indent="0" algn="l">
              <a:lnSpc>
                <a:spcPct val="108000"/>
              </a:lnSpc>
              <a:buNone/>
            </a:pPr>
            <a:r>
              <a:rPr lang="en-US" sz="2000" dirty="0">
                <a:solidFill>
                  <a:srgbClr val="000000"/>
                </a:solidFill>
                <a:latin typeface="Schibsted Grotesk Medium" pitchFamily="34" charset="0"/>
                <a:ea typeface="Schibsted Grotesk Medium" pitchFamily="34" charset="-122"/>
                <a:cs typeface="Schibsted Grotesk Medium" pitchFamily="34" charset="-120"/>
              </a:rPr>
              <a:t>Current study limitations</a:t>
            </a:r>
            <a:endParaRPr lang="en-US" sz="2000" dirty="0"/>
          </a:p>
        </p:txBody>
      </p:sp>
      <p:sp>
        <p:nvSpPr>
          <p:cNvPr id="7" name="Text 5"/>
          <p:cNvSpPr/>
          <p:nvPr/>
        </p:nvSpPr>
        <p:spPr>
          <a:xfrm>
            <a:off x="660383" y="2946896"/>
            <a:ext cx="5054474" cy="1953022"/>
          </a:xfrm>
          <a:prstGeom prst="rect">
            <a:avLst/>
          </a:prstGeom>
          <a:noFill/>
          <a:ln/>
        </p:spPr>
        <p:txBody>
          <a:bodyPr wrap="square" lIns="0" tIns="0" rIns="0" bIns="0" rtlCol="0" anchor="t">
            <a:normAutofit/>
          </a:bodyPr>
          <a:lstStyle/>
          <a:p>
            <a:pPr marL="365760" indent="-365760" algn="l">
              <a:lnSpc>
                <a:spcPct val="113000"/>
              </a:lnSpc>
              <a:buSzPct val="100000"/>
              <a:buChar char="•"/>
            </a:pPr>
            <a:r>
              <a:rPr lang="en-US" sz="1800" dirty="0">
                <a:solidFill>
                  <a:srgbClr val="000000"/>
                </a:solidFill>
                <a:latin typeface="Schibsted Grotesk" pitchFamily="34" charset="0"/>
                <a:ea typeface="Schibsted Grotesk" pitchFamily="34" charset="-122"/>
                <a:cs typeface="Schibsted Grotesk" pitchFamily="34" charset="-120"/>
              </a:rPr>
              <a:t>Only 452 rows; rare classes have 1–8 test cases → unstable per-class metrics.</a:t>
            </a:r>
            <a:endParaRPr lang="en-US" sz="1800" dirty="0"/>
          </a:p>
          <a:p>
            <a:pPr marL="365760" indent="-365760" algn="l">
              <a:lnSpc>
                <a:spcPct val="113000"/>
              </a:lnSpc>
              <a:buSzPct val="100000"/>
              <a:buChar char="•"/>
            </a:pPr>
            <a:r>
              <a:rPr lang="en-US" sz="1800" dirty="0">
                <a:solidFill>
                  <a:srgbClr val="000000"/>
                </a:solidFill>
                <a:latin typeface="Schibsted Grotesk" pitchFamily="34" charset="0"/>
                <a:ea typeface="Schibsted Grotesk" pitchFamily="34" charset="-122"/>
                <a:cs typeface="Schibsted Grotesk" pitchFamily="34" charset="-120"/>
              </a:rPr>
              <a:t>Single 70/30 split; simple median imputation; precomputed features (no raw waveform).</a:t>
            </a:r>
            <a:endParaRPr lang="en-US" sz="1800" dirty="0"/>
          </a:p>
          <a:p>
            <a:pPr marL="365760" indent="-365760" algn="l">
              <a:lnSpc>
                <a:spcPct val="113000"/>
              </a:lnSpc>
              <a:buSzPct val="100000"/>
              <a:buChar char="•"/>
            </a:pPr>
            <a:r>
              <a:rPr lang="en-US" sz="1800" dirty="0">
                <a:solidFill>
                  <a:srgbClr val="000000"/>
                </a:solidFill>
                <a:latin typeface="Schibsted Grotesk" pitchFamily="34" charset="0"/>
                <a:ea typeface="Schibsted Grotesk" pitchFamily="34" charset="-122"/>
                <a:cs typeface="Schibsted Grotesk" pitchFamily="34" charset="-120"/>
              </a:rPr>
              <a:t>Historical, single-source data; no external validation; not clinically valid.</a:t>
            </a:r>
            <a:endParaRPr lang="en-US" sz="1800" dirty="0"/>
          </a:p>
        </p:txBody>
      </p:sp>
      <p:sp>
        <p:nvSpPr>
          <p:cNvPr id="8" name="Shape 6"/>
          <p:cNvSpPr/>
          <p:nvPr/>
        </p:nvSpPr>
        <p:spPr>
          <a:xfrm>
            <a:off x="6222844" y="2270621"/>
            <a:ext cx="5460863" cy="2832497"/>
          </a:xfrm>
          <a:prstGeom prst="roundRect">
            <a:avLst>
              <a:gd name="adj" fmla="val 4304"/>
            </a:avLst>
          </a:prstGeom>
          <a:solidFill>
            <a:srgbClr val="F7FAF4"/>
          </a:solidFill>
          <a:ln/>
        </p:spPr>
      </p:sp>
      <p:sp>
        <p:nvSpPr>
          <p:cNvPr id="9" name="Text 7"/>
          <p:cNvSpPr/>
          <p:nvPr/>
        </p:nvSpPr>
        <p:spPr>
          <a:xfrm>
            <a:off x="6426039" y="2481759"/>
            <a:ext cx="5054474" cy="330200"/>
          </a:xfrm>
          <a:prstGeom prst="rect">
            <a:avLst/>
          </a:prstGeom>
          <a:noFill/>
          <a:ln/>
        </p:spPr>
        <p:txBody>
          <a:bodyPr wrap="none" lIns="0" tIns="0" rIns="0" bIns="0" rtlCol="0" anchor="t"/>
          <a:lstStyle/>
          <a:p>
            <a:pPr marL="0" indent="0" algn="l">
              <a:lnSpc>
                <a:spcPct val="108000"/>
              </a:lnSpc>
              <a:buNone/>
            </a:pPr>
            <a:r>
              <a:rPr lang="en-US" sz="2000" dirty="0">
                <a:solidFill>
                  <a:srgbClr val="000000"/>
                </a:solidFill>
                <a:latin typeface="Schibsted Grotesk Medium" pitchFamily="34" charset="0"/>
                <a:ea typeface="Schibsted Grotesk Medium" pitchFamily="34" charset="-122"/>
                <a:cs typeface="Schibsted Grotesk Medium" pitchFamily="34" charset="-120"/>
              </a:rPr>
              <a:t>Prioritized next steps</a:t>
            </a:r>
            <a:endParaRPr lang="en-US" sz="2000" dirty="0"/>
          </a:p>
        </p:txBody>
      </p:sp>
      <p:sp>
        <p:nvSpPr>
          <p:cNvPr id="10" name="Text 8"/>
          <p:cNvSpPr/>
          <p:nvPr/>
        </p:nvSpPr>
        <p:spPr>
          <a:xfrm>
            <a:off x="6426039" y="2946896"/>
            <a:ext cx="5054474" cy="976511"/>
          </a:xfrm>
          <a:prstGeom prst="rect">
            <a:avLst/>
          </a:prstGeom>
          <a:noFill/>
          <a:ln/>
        </p:spPr>
        <p:txBody>
          <a:bodyPr wrap="square" lIns="0" tIns="0" rIns="0" bIns="0" rtlCol="0" anchor="t">
            <a:normAutofit/>
          </a:bodyPr>
          <a:lstStyle/>
          <a:p>
            <a:pPr marL="365760" indent="-365760" algn="l">
              <a:lnSpc>
                <a:spcPct val="113000"/>
              </a:lnSpc>
              <a:buSzPct val="100000"/>
              <a:buChar char="•"/>
            </a:pPr>
            <a:r>
              <a:rPr lang="en-US" sz="1800" dirty="0">
                <a:solidFill>
                  <a:srgbClr val="000000"/>
                </a:solidFill>
                <a:latin typeface="Schibsted Grotesk" pitchFamily="34" charset="0"/>
                <a:ea typeface="Schibsted Grotesk" pitchFamily="34" charset="-122"/>
                <a:cs typeface="Schibsted Grotesk" pitchFamily="34" charset="-120"/>
              </a:rPr>
              <a:t>Nested CV; class weighting or resampling for rare classes.</a:t>
            </a:r>
            <a:endParaRPr lang="en-US" sz="1800" dirty="0"/>
          </a:p>
          <a:p>
            <a:pPr marL="365760" indent="-365760" algn="l">
              <a:lnSpc>
                <a:spcPct val="113000"/>
              </a:lnSpc>
              <a:buSzPct val="100000"/>
              <a:buChar char="•"/>
            </a:pPr>
            <a:r>
              <a:rPr lang="en-US" sz="1800" dirty="0">
                <a:solidFill>
                  <a:srgbClr val="000000"/>
                </a:solidFill>
                <a:latin typeface="Schibsted Grotesk" pitchFamily="34" charset="0"/>
                <a:ea typeface="Schibsted Grotesk" pitchFamily="34" charset="-122"/>
                <a:cs typeface="Schibsted Grotesk" pitchFamily="34" charset="-120"/>
              </a:rPr>
              <a:t>Better imputation; calibration; external validation.</a:t>
            </a:r>
            <a:endParaRPr lang="en-US" sz="1800" dirty="0"/>
          </a:p>
        </p:txBody>
      </p:sp>
      <p:sp>
        <p:nvSpPr>
          <p:cNvPr id="11" name="Text 9"/>
          <p:cNvSpPr/>
          <p:nvPr/>
        </p:nvSpPr>
        <p:spPr>
          <a:xfrm>
            <a:off x="457189" y="5230118"/>
            <a:ext cx="11226519" cy="693241"/>
          </a:xfrm>
          <a:prstGeom prst="rect">
            <a:avLst/>
          </a:prstGeom>
          <a:noFill/>
          <a:ln/>
        </p:spPr>
        <p:txBody>
          <a:bodyPr wrap="square" lIns="0" tIns="0" rIns="0" bIns="0" rtlCol="0" anchor="t">
            <a:normAutofit/>
          </a:bodyPr>
          <a:lstStyle/>
          <a:p>
            <a:pPr marL="0" indent="0" algn="l">
              <a:lnSpc>
                <a:spcPct val="108000"/>
              </a:lnSpc>
              <a:buNone/>
            </a:pPr>
            <a:endParaRPr lang="en-US" sz="1400" dirty="0"/>
          </a:p>
        </p:txBody>
      </p:sp>
      <p:sp>
        <p:nvSpPr>
          <p:cNvPr id="12" name="Text 10"/>
          <p:cNvSpPr/>
          <p:nvPr/>
        </p:nvSpPr>
        <p:spPr>
          <a:xfrm>
            <a:off x="11786595" y="6526510"/>
            <a:ext cx="405100" cy="205680"/>
          </a:xfrm>
          <a:prstGeom prst="rect">
            <a:avLst/>
          </a:prstGeom>
          <a:noFill/>
          <a:ln/>
        </p:spPr>
        <p:txBody>
          <a:bodyPr wrap="none" lIns="0" tIns="0" rIns="0" bIns="0" rtlCol="0" anchor="ctr"/>
          <a:lstStyle/>
          <a:p>
            <a:pPr marL="0" indent="0" algn="l">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7987" y="304800"/>
            <a:ext cx="11683708" cy="214610"/>
          </a:xfrm>
          <a:prstGeom prst="rect">
            <a:avLst/>
          </a:prstGeom>
          <a:noFill/>
          <a:ln/>
        </p:spPr>
        <p:txBody>
          <a:bodyPr wrap="none" lIns="0" tIns="0" rIns="0" bIns="0" rtlCol="0" anchor="t"/>
          <a:lstStyle/>
          <a:p>
            <a:pPr marL="0" indent="0" algn="l">
              <a:lnSpc>
                <a:spcPct val="108000"/>
              </a:lnSpc>
              <a:buNone/>
            </a:pPr>
            <a:r>
              <a:rPr lang="en-US" sz="1300" kern="100" spc="13" dirty="0">
                <a:solidFill>
                  <a:srgbClr val="C5E35A"/>
                </a:solidFill>
                <a:latin typeface="Fira Mono Medium" pitchFamily="34" charset="0"/>
                <a:ea typeface="Fira Mono Medium" pitchFamily="34" charset="-122"/>
                <a:cs typeface="Fira Mono Medium" pitchFamily="34" charset="-120"/>
              </a:rPr>
              <a:t>SUMMARY &amp; PROJECT VIVA</a:t>
            </a:r>
            <a:endParaRPr lang="en-US" sz="1300" dirty="0"/>
          </a:p>
        </p:txBody>
      </p:sp>
      <p:sp>
        <p:nvSpPr>
          <p:cNvPr id="3" name="Text 1"/>
          <p:cNvSpPr/>
          <p:nvPr/>
        </p:nvSpPr>
        <p:spPr>
          <a:xfrm>
            <a:off x="507987" y="637030"/>
            <a:ext cx="11175720" cy="960041"/>
          </a:xfrm>
          <a:prstGeom prst="rect">
            <a:avLst/>
          </a:prstGeom>
          <a:noFill/>
          <a:ln/>
        </p:spPr>
        <p:txBody>
          <a:bodyPr wrap="square" lIns="0" tIns="0" rIns="0" bIns="0" rtlCol="0" anchor="t">
            <a:normAutofit/>
          </a:bodyPr>
          <a:lstStyle/>
          <a:p>
            <a:pPr marL="0" indent="0" algn="l">
              <a:lnSpc>
                <a:spcPct val="87000"/>
              </a:lnSpc>
              <a:buNone/>
            </a:pPr>
            <a:r>
              <a:rPr lang="en-US" sz="3600" kern="100" spc="-54" dirty="0">
                <a:solidFill>
                  <a:srgbClr val="FFFFFF"/>
                </a:solidFill>
                <a:latin typeface="Schibsted Grotesk ExtraBold" pitchFamily="34" charset="0"/>
                <a:ea typeface="Schibsted Grotesk ExtraBold" pitchFamily="34" charset="-122"/>
                <a:cs typeface="Schibsted Grotesk ExtraBold" pitchFamily="34" charset="-120"/>
              </a:rPr>
              <a:t>CART vs Random Forest: honest results, reproducible code</a:t>
            </a:r>
            <a:endParaRPr lang="en-US" sz="3600" dirty="0"/>
          </a:p>
        </p:txBody>
      </p:sp>
      <p:sp>
        <p:nvSpPr>
          <p:cNvPr id="4" name="Shape 2"/>
          <p:cNvSpPr/>
          <p:nvPr/>
        </p:nvSpPr>
        <p:spPr>
          <a:xfrm>
            <a:off x="507987" y="1811238"/>
            <a:ext cx="2793831" cy="50701"/>
          </a:xfrm>
          <a:prstGeom prst="roundRect">
            <a:avLst>
              <a:gd name="adj" fmla="val 49999"/>
            </a:avLst>
          </a:prstGeom>
          <a:solidFill>
            <a:srgbClr val="C5E35A"/>
          </a:solidFill>
          <a:ln/>
        </p:spPr>
      </p:sp>
      <p:sp>
        <p:nvSpPr>
          <p:cNvPr id="5" name="Shape 3"/>
          <p:cNvSpPr/>
          <p:nvPr/>
        </p:nvSpPr>
        <p:spPr>
          <a:xfrm>
            <a:off x="507987" y="2044601"/>
            <a:ext cx="5435464" cy="1539081"/>
          </a:xfrm>
          <a:prstGeom prst="roundRect">
            <a:avLst>
              <a:gd name="adj" fmla="val 7921"/>
            </a:avLst>
          </a:prstGeom>
          <a:solidFill>
            <a:srgbClr val="F7FAF4"/>
          </a:solidFill>
          <a:ln/>
        </p:spPr>
      </p:sp>
      <p:sp>
        <p:nvSpPr>
          <p:cNvPr id="6" name="Text 4"/>
          <p:cNvSpPr/>
          <p:nvPr/>
        </p:nvSpPr>
        <p:spPr>
          <a:xfrm>
            <a:off x="711182" y="2200811"/>
            <a:ext cx="5029074" cy="1234281"/>
          </a:xfrm>
          <a:prstGeom prst="rect">
            <a:avLst/>
          </a:prstGeom>
          <a:noFill/>
          <a:ln/>
        </p:spPr>
        <p:txBody>
          <a:bodyPr wrap="square" lIns="0" tIns="0" rIns="0" bIns="0" rtlCol="0" anchor="t">
            <a:normAutofit fontScale="92500"/>
          </a:bodyPr>
          <a:lstStyle/>
          <a:p>
            <a:pPr marL="0" indent="0" algn="l">
              <a:lnSpc>
                <a:spcPct val="113000"/>
              </a:lnSpc>
              <a:buNone/>
            </a:pPr>
            <a:r>
              <a:rPr lang="en-US" sz="1800" b="1" dirty="0">
                <a:solidFill>
                  <a:srgbClr val="000000"/>
                </a:solidFill>
                <a:latin typeface="Schibsted Grotesk Bold" pitchFamily="34" charset="0"/>
                <a:ea typeface="Schibsted Grotesk Bold" pitchFamily="34" charset="-122"/>
                <a:cs typeface="Schibsted Grotesk Bold" pitchFamily="34" charset="-120"/>
              </a:rPr>
              <a:t>Methodological rigor:</a:t>
            </a:r>
            <a:r>
              <a:rPr lang="en-US" sz="1800" dirty="0">
                <a:solidFill>
                  <a:srgbClr val="000000"/>
                </a:solidFill>
                <a:latin typeface="Schibsted Grotesk" pitchFamily="34" charset="0"/>
                <a:ea typeface="Schibsted Grotesk" pitchFamily="34" charset="-122"/>
                <a:cs typeface="Schibsted Grotesk" pitchFamily="34" charset="-120"/>
              </a:rPr>
              <a:t> Test patients never influence tuning, imputation or feature dropping. Reported: Random Forest 0.728 accuracy / 0.369 macro-F1; CART 0.632 / 0.237.</a:t>
            </a:r>
            <a:endParaRPr lang="en-US" sz="1800" dirty="0"/>
          </a:p>
        </p:txBody>
      </p:sp>
      <p:sp>
        <p:nvSpPr>
          <p:cNvPr id="7" name="Shape 5"/>
          <p:cNvSpPr/>
          <p:nvPr/>
        </p:nvSpPr>
        <p:spPr>
          <a:xfrm>
            <a:off x="507987" y="3736082"/>
            <a:ext cx="5435464" cy="1539081"/>
          </a:xfrm>
          <a:prstGeom prst="roundRect">
            <a:avLst>
              <a:gd name="adj" fmla="val 7921"/>
            </a:avLst>
          </a:prstGeom>
          <a:solidFill>
            <a:srgbClr val="F7FAF4"/>
          </a:solidFill>
          <a:ln/>
        </p:spPr>
      </p:sp>
      <p:sp>
        <p:nvSpPr>
          <p:cNvPr id="8" name="Text 6"/>
          <p:cNvSpPr/>
          <p:nvPr/>
        </p:nvSpPr>
        <p:spPr>
          <a:xfrm>
            <a:off x="711182" y="3892292"/>
            <a:ext cx="5029074" cy="1234281"/>
          </a:xfrm>
          <a:prstGeom prst="rect">
            <a:avLst/>
          </a:prstGeom>
          <a:noFill/>
          <a:ln/>
        </p:spPr>
        <p:txBody>
          <a:bodyPr wrap="square" lIns="0" tIns="0" rIns="0" bIns="0" rtlCol="0" anchor="t">
            <a:normAutofit/>
          </a:bodyPr>
          <a:lstStyle/>
          <a:p>
            <a:pPr marL="0" indent="0" algn="l">
              <a:lnSpc>
                <a:spcPct val="113000"/>
              </a:lnSpc>
              <a:buNone/>
            </a:pPr>
            <a:r>
              <a:rPr lang="en-US" sz="1800" b="1" dirty="0">
                <a:solidFill>
                  <a:srgbClr val="000000"/>
                </a:solidFill>
                <a:latin typeface="Schibsted Grotesk Bold" pitchFamily="34" charset="0"/>
                <a:ea typeface="Schibsted Grotesk Bold" pitchFamily="34" charset="-122"/>
                <a:cs typeface="Schibsted Grotesk Bold" pitchFamily="34" charset="-120"/>
              </a:rPr>
              <a:t>Reproducible codebase:</a:t>
            </a:r>
            <a:r>
              <a:rPr lang="en-US" sz="1800" dirty="0">
                <a:solidFill>
                  <a:srgbClr val="000000"/>
                </a:solidFill>
                <a:latin typeface="Schibsted Grotesk" pitchFamily="34" charset="0"/>
                <a:ea typeface="Schibsted Grotesk" pitchFamily="34" charset="-122"/>
                <a:cs typeface="Schibsted Grotesk" pitchFamily="34" charset="-120"/>
              </a:rPr>
              <a:t> One script (main.py), an executed notebook and requirements.txt reproduce every number; the 10-fold CV protocol follows the paper.</a:t>
            </a:r>
            <a:endParaRPr lang="en-US" sz="1800" dirty="0"/>
          </a:p>
        </p:txBody>
      </p:sp>
      <p:sp>
        <p:nvSpPr>
          <p:cNvPr id="9" name="Shape 7"/>
          <p:cNvSpPr/>
          <p:nvPr/>
        </p:nvSpPr>
        <p:spPr>
          <a:xfrm>
            <a:off x="6248244" y="2044601"/>
            <a:ext cx="5435464" cy="1847652"/>
          </a:xfrm>
          <a:prstGeom prst="roundRect">
            <a:avLst>
              <a:gd name="adj" fmla="val 6599"/>
            </a:avLst>
          </a:prstGeom>
          <a:solidFill>
            <a:srgbClr val="F7FAF4"/>
          </a:solidFill>
          <a:ln/>
        </p:spPr>
      </p:sp>
      <p:sp>
        <p:nvSpPr>
          <p:cNvPr id="10" name="Text 8"/>
          <p:cNvSpPr/>
          <p:nvPr/>
        </p:nvSpPr>
        <p:spPr>
          <a:xfrm>
            <a:off x="6451439" y="2200811"/>
            <a:ext cx="5029074" cy="1542852"/>
          </a:xfrm>
          <a:prstGeom prst="rect">
            <a:avLst/>
          </a:prstGeom>
          <a:noFill/>
          <a:ln/>
        </p:spPr>
        <p:txBody>
          <a:bodyPr wrap="square" lIns="0" tIns="0" rIns="0" bIns="0" rtlCol="0" anchor="t">
            <a:normAutofit/>
          </a:bodyPr>
          <a:lstStyle/>
          <a:p>
            <a:pPr marL="0" indent="0" algn="l">
              <a:lnSpc>
                <a:spcPct val="113000"/>
              </a:lnSpc>
              <a:buNone/>
            </a:pPr>
            <a:r>
              <a:rPr lang="en-US" sz="1800" b="1" dirty="0">
                <a:solidFill>
                  <a:srgbClr val="000000"/>
                </a:solidFill>
                <a:latin typeface="Schibsted Grotesk Bold" pitchFamily="34" charset="0"/>
                <a:ea typeface="Schibsted Grotesk Bold" pitchFamily="34" charset="-122"/>
                <a:cs typeface="Schibsted Grotesk Bold" pitchFamily="34" charset="-120"/>
              </a:rPr>
              <a:t>Interpretability tradeoff:</a:t>
            </a:r>
            <a:r>
              <a:rPr lang="en-US" sz="1800" dirty="0">
                <a:solidFill>
                  <a:srgbClr val="000000"/>
                </a:solidFill>
                <a:latin typeface="Schibsted Grotesk" pitchFamily="34" charset="0"/>
                <a:ea typeface="Schibsted Grotesk" pitchFamily="34" charset="-122"/>
                <a:cs typeface="Schibsted Grotesk" pitchFamily="34" charset="-120"/>
              </a:rPr>
              <a:t> The pruned CART has 8 readable leaves; the forest is about 10 points more accurate on the test set but not human-auditable. Neither reaches the paper’s ~80% or recovers rare classes.</a:t>
            </a:r>
            <a:endParaRPr lang="en-US" sz="1800" dirty="0"/>
          </a:p>
        </p:txBody>
      </p:sp>
      <p:sp>
        <p:nvSpPr>
          <p:cNvPr id="11" name="Text 9"/>
          <p:cNvSpPr/>
          <p:nvPr/>
        </p:nvSpPr>
        <p:spPr>
          <a:xfrm>
            <a:off x="507987" y="5410101"/>
            <a:ext cx="8818739" cy="330200"/>
          </a:xfrm>
          <a:prstGeom prst="rect">
            <a:avLst/>
          </a:prstGeom>
          <a:noFill/>
          <a:ln/>
        </p:spPr>
        <p:txBody>
          <a:bodyPr wrap="none" lIns="0" tIns="0" rIns="0" bIns="0" rtlCol="0" anchor="t"/>
          <a:lstStyle/>
          <a:p>
            <a:pPr marL="0" indent="0" algn="l">
              <a:lnSpc>
                <a:spcPct val="108000"/>
              </a:lnSpc>
              <a:buNone/>
            </a:pPr>
            <a:r>
              <a:rPr lang="en-US" sz="2000" dirty="0">
                <a:solidFill>
                  <a:srgbClr val="FFFFFF"/>
                </a:solidFill>
                <a:latin typeface="Schibsted Grotesk Medium" pitchFamily="34" charset="0"/>
                <a:ea typeface="Schibsted Grotesk Medium" pitchFamily="34" charset="-122"/>
                <a:cs typeface="Schibsted Grotesk Medium" pitchFamily="34" charset="-120"/>
              </a:rPr>
              <a:t>Thank you! </a:t>
            </a:r>
            <a:endParaRPr lang="en-US" sz="2000" dirty="0"/>
          </a:p>
        </p:txBody>
      </p:sp>
      <p:sp>
        <p:nvSpPr>
          <p:cNvPr id="12" name="Text 10"/>
          <p:cNvSpPr/>
          <p:nvPr/>
        </p:nvSpPr>
        <p:spPr>
          <a:xfrm>
            <a:off x="11828266" y="6526510"/>
            <a:ext cx="363429" cy="205680"/>
          </a:xfrm>
          <a:prstGeom prst="rect">
            <a:avLst/>
          </a:prstGeom>
          <a:noFill/>
          <a:ln/>
        </p:spPr>
        <p:txBody>
          <a:bodyPr wrap="none" lIns="0" tIns="0" rIns="0" bIns="0" rtlCol="0" anchor="ctr"/>
          <a:lstStyle/>
          <a:p>
            <a:pPr marL="0" indent="0" algn="l">
              <a:lnSpc>
                <a:spcPct val="113000"/>
              </a:lnSpc>
              <a:buNone/>
            </a:pPr>
            <a:r>
              <a:rPr lang="en-US" sz="1200" dirty="0">
                <a:solidFill>
                  <a:srgbClr val="E3EEE7"/>
                </a:solidFill>
                <a:latin typeface="Schibsted Grotesk" pitchFamily="34" charset="0"/>
                <a:ea typeface="Schibsted Grotesk" pitchFamily="34" charset="-122"/>
                <a:cs typeface="Schibsted Grotesk" pitchFamily="34" charset="-120"/>
              </a:rPr>
              <a:t>10</a:t>
            </a:r>
            <a:endParaRPr lang="en-US" sz="1200" dirty="0"/>
          </a:p>
        </p:txBody>
      </p:sp>
    </p:spTree>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Dark Gradient</Template>
  <TotalTime>92</TotalTime>
  <Words>1696</Words>
  <Application>Microsoft Office PowerPoint</Application>
  <PresentationFormat>Widescreen</PresentationFormat>
  <Paragraphs>110</Paragraphs>
  <Slides>10</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vt:i4>
      </vt:variant>
    </vt:vector>
  </HeadingPairs>
  <TitlesOfParts>
    <vt:vector size="22" baseType="lpstr">
      <vt:lpstr>Schibsted Grotesk</vt:lpstr>
      <vt:lpstr>Schibsted Grotesk ExtraBold</vt:lpstr>
      <vt:lpstr>Schibsted Grotesk Medium</vt:lpstr>
      <vt:lpstr>Schibsted Grotesk SemiBold</vt:lpstr>
      <vt:lpstr>Schibsted Grotesk Bold</vt:lpstr>
      <vt:lpstr>Consolas</vt:lpstr>
      <vt:lpstr>Aptos</vt:lpstr>
      <vt:lpstr>Arial Nova Light</vt:lpstr>
      <vt:lpstr>Fira Mono Bold</vt:lpstr>
      <vt:lpstr>Arial</vt:lpstr>
      <vt:lpstr>Fira Mono Medium</vt:lpstr>
      <vt:lpstr>Dark Gradient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Dhriti Kamani</cp:lastModifiedBy>
  <cp:revision>3</cp:revision>
  <dcterms:created xsi:type="dcterms:W3CDTF">2026-10-12T05:57:03Z</dcterms:created>
  <dcterms:modified xsi:type="dcterms:W3CDTF">2026-10-13T08:53:38Z</dcterms:modified>
</cp:coreProperties>
</file>